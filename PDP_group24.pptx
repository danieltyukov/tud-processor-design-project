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8"/>
  </p:notesMasterIdLst>
  <p:sldIdLst>
    <p:sldId id="257" r:id="rId6"/>
    <p:sldId id="275" r:id="rId7"/>
    <p:sldId id="259" r:id="rId8"/>
    <p:sldId id="264" r:id="rId9"/>
    <p:sldId id="265" r:id="rId10"/>
    <p:sldId id="271" r:id="rId11"/>
    <p:sldId id="267" r:id="rId12"/>
    <p:sldId id="268" r:id="rId13"/>
    <p:sldId id="269" r:id="rId14"/>
    <p:sldId id="270" r:id="rId15"/>
    <p:sldId id="278" r:id="rId16"/>
    <p:sldId id="279" r:id="rId17"/>
    <p:sldId id="280" r:id="rId18"/>
    <p:sldId id="283" r:id="rId19"/>
    <p:sldId id="284" r:id="rId20"/>
    <p:sldId id="285" r:id="rId21"/>
    <p:sldId id="286" r:id="rId34"/>
    <p:sldId id="287" r:id="rId35"/>
    <p:sldId id="272" r:id="rId22"/>
    <p:sldId id="276" r:id="rId23"/>
    <p:sldId id="273" r:id="rId24"/>
    <p:sldId id="277" r:id="rId25"/>
    <p:sldId id="282" r:id="rId26"/>
    <p:sldId id="263" r:id="rId2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4ACB14-45DB-06E0-84C2-FADFF5AF1E9B}" v="146" dt="2026-06-12T09:51:51.934"/>
    <p1510:client id="{3F158E37-9E7C-3F07-C892-E5A057830573}" v="16" dt="2026-06-12T15:04:12.623"/>
    <p1510:client id="{5DDF92DD-6549-1430-4699-F0EFD5835B67}" v="1257" dt="2026-06-12T12:24:17.576"/>
    <p1510:client id="{644C6B8B-85E3-959A-10A3-09AF0DF354F2}" v="1995" dt="2026-06-12T15:03:21.076"/>
    <p1510:client id="{8A3E2741-4F58-435C-E3B9-1108157B89AB}" v="30" dt="2026-06-12T14:52:44.583"/>
    <p1510:client id="{B5003FB2-C0E1-3EB5-9241-5BA751B9FD0E}" v="2" dt="2026-06-12T12:13:49.838"/>
    <p1510:client id="{D292E6C5-8987-0959-CA3C-BDA41AA4D2BC}" v="71" dt="2026-06-12T08:08:07.2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5/10/relationships/revisionInfo" Target="revisionInfo.xml"/><Relationship Id="rId34" Type="http://schemas.openxmlformats.org/officeDocument/2006/relationships/slide" Target="slides/slide17.xml"/><Relationship Id="rId3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057EB-7613-40BF-BC38-C4404E475540}" type="datetimeFigureOut">
              <a:rPr lang="nl-NL" smtClean="0"/>
              <a:t>12-6-2026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EDA97-E338-45F8-A5E7-1CDD5AF6A9A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305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53928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66684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138" y="719138"/>
            <a:ext cx="10752137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227193-D8F5-48A7-B0D3-6DAD1F4F8E92}" type="datetime1">
              <a:rPr lang="nl-NL" smtClean="0"/>
              <a:t>12-6-2026</a:t>
            </a:fld>
            <a:endParaRPr lang="en-GB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5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grafiek 17">
            <a:extLst>
              <a:ext uri="{FF2B5EF4-FFF2-40B4-BE49-F238E27FC236}">
                <a16:creationId xmlns:a16="http://schemas.microsoft.com/office/drawing/2014/main" id="{9C976D4D-6916-D2FC-E254-80706C2BEE24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718667" y="1565275"/>
            <a:ext cx="10753334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graph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67967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4F67F68-8730-46D4-B97A-B14B07754ED5}" type="datetime1">
              <a:rPr lang="nl-NL" smtClean="0"/>
              <a:t>12-6-2026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2DB909E2-579E-7420-B285-B389C3AE3393}"/>
              </a:ext>
            </a:extLst>
          </p:cNvPr>
          <p:cNvGrpSpPr/>
          <p:nvPr userDrawn="1"/>
        </p:nvGrpSpPr>
        <p:grpSpPr>
          <a:xfrm>
            <a:off x="-3786437" y="2"/>
            <a:ext cx="3693386" cy="5715919"/>
            <a:chOff x="-3786437" y="2"/>
            <a:chExt cx="3693386" cy="5715919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680CF1DF-856E-8E3E-4BBE-4805542EA914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D6DEF1C-D18F-9BF8-4FBB-393B195F8523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C2AA5349-4667-F1BB-8749-61754D67B08A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948A4516-EE53-9ED0-1F2F-7410A66E5832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883D4637-4338-DD25-45CB-22329D8FF6A1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F34B3B2A-C80C-D662-35DD-C7972D581181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A6E43491-EF0F-05B7-1F05-BBFDA2A92B8E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Tekstvak 47">
                  <a:extLst>
                    <a:ext uri="{FF2B5EF4-FFF2-40B4-BE49-F238E27FC236}">
                      <a16:creationId xmlns:a16="http://schemas.microsoft.com/office/drawing/2014/main" id="{1C7EA8EB-CD33-9439-E202-16194D92EE8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5FFEB4FB-F37F-B1A5-2DA9-2399B6B6511A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50" name="Vrije vorm: vorm 49">
                  <a:extLst>
                    <a:ext uri="{FF2B5EF4-FFF2-40B4-BE49-F238E27FC236}">
                      <a16:creationId xmlns:a16="http://schemas.microsoft.com/office/drawing/2014/main" id="{BBF461B4-9C4B-F5F3-DFDB-1B00E3910BA7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5296A3EF-5B20-BA91-1AF3-24FB56ED49C0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A6E02C25-B3CC-B095-2619-965D3212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7F79493F-F589-8CB2-EC65-2CD9EBAF186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B761E95E-2BC3-DF23-E772-5C701D5EB87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B31C3B2F-C551-7FFA-1994-50DFD9C355E4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53" name="Rechthoek 52">
                    <a:extLst>
                      <a:ext uri="{FF2B5EF4-FFF2-40B4-BE49-F238E27FC236}">
                        <a16:creationId xmlns:a16="http://schemas.microsoft.com/office/drawing/2014/main" id="{B196AFE8-BAF3-9B20-F55E-555D3E6D633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029ED99F-086B-DFC1-BD59-96A3BB73A1E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64" name="Rechte verbindingslijn 63">
                      <a:extLst>
                        <a:ext uri="{FF2B5EF4-FFF2-40B4-BE49-F238E27FC236}">
                          <a16:creationId xmlns:a16="http://schemas.microsoft.com/office/drawing/2014/main" id="{AE2D43E5-34C5-B533-FDC8-9875789C0F9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Rechte verbindingslijn 64">
                      <a:extLst>
                        <a:ext uri="{FF2B5EF4-FFF2-40B4-BE49-F238E27FC236}">
                          <a16:creationId xmlns:a16="http://schemas.microsoft.com/office/drawing/2014/main" id="{EB5E7D2D-A2F7-31C9-7733-8B6DF553AE2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F724BAD9-4B97-5FC3-2704-C1465C3B41A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7" name="Rechte verbindingslijn 66">
                        <a:extLst>
                          <a:ext uri="{FF2B5EF4-FFF2-40B4-BE49-F238E27FC236}">
                            <a16:creationId xmlns:a16="http://schemas.microsoft.com/office/drawing/2014/main" id="{4831ED37-35C9-37E3-6163-578A1EAE9E2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DFF104EF-9AA2-18D8-729B-EEE5927A763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8EA6A74D-9ED8-19D6-A2B9-FEAA889D13C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698B3A79-C1F7-5F71-D5A9-0CC83C8D0E0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4EE3CE9F-13AA-FBBD-B74F-E690C0F0715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7AC75CB-1385-0081-A6EE-476D3A8C91E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EDB2AF1-01E4-84B6-E591-7C60D6C0B41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BE38BFD-CF15-99BD-52D7-BAE4792A6D3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Rechthoek 58">
                    <a:extLst>
                      <a:ext uri="{FF2B5EF4-FFF2-40B4-BE49-F238E27FC236}">
                        <a16:creationId xmlns:a16="http://schemas.microsoft.com/office/drawing/2014/main" id="{E7C7006E-DA51-74A5-5437-0982DDE60B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60" name="Groep 59">
                    <a:extLst>
                      <a:ext uri="{FF2B5EF4-FFF2-40B4-BE49-F238E27FC236}">
                        <a16:creationId xmlns:a16="http://schemas.microsoft.com/office/drawing/2014/main" id="{69B4CA6F-3C30-C9D4-6CDE-69D4FFD5462F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61" name="Rechthoek 60">
                      <a:extLst>
                        <a:ext uri="{FF2B5EF4-FFF2-40B4-BE49-F238E27FC236}">
                          <a16:creationId xmlns:a16="http://schemas.microsoft.com/office/drawing/2014/main" id="{7587ED83-F8C0-317C-74C0-4C453F74C91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2" name="Rechthoek: afgeronde bovenhoeken 61">
                      <a:extLst>
                        <a:ext uri="{FF2B5EF4-FFF2-40B4-BE49-F238E27FC236}">
                          <a16:creationId xmlns:a16="http://schemas.microsoft.com/office/drawing/2014/main" id="{3E5E5670-9461-25A0-4574-183B2CD0C1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3" name="Gelijkbenige driehoek 62">
                      <a:extLst>
                        <a:ext uri="{FF2B5EF4-FFF2-40B4-BE49-F238E27FC236}">
                          <a16:creationId xmlns:a16="http://schemas.microsoft.com/office/drawing/2014/main" id="{3576B5E2-335E-BDC1-D94D-3AF8C0870FD0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4FD77C49-F4D1-428A-AC10-EB0884CD9787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37" name="ICOON_info">
                <a:extLst>
                  <a:ext uri="{FF2B5EF4-FFF2-40B4-BE49-F238E27FC236}">
                    <a16:creationId xmlns:a16="http://schemas.microsoft.com/office/drawing/2014/main" id="{CFCB81CF-43E1-DC89-ED74-18FE0A4DC5E0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44" name="Ovaal 43">
                  <a:extLst>
                    <a:ext uri="{FF2B5EF4-FFF2-40B4-BE49-F238E27FC236}">
                      <a16:creationId xmlns:a16="http://schemas.microsoft.com/office/drawing/2014/main" id="{30A42F84-B94C-26E6-D041-B44B25B0672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Graphic 163" descr="Informatie">
                  <a:extLst>
                    <a:ext uri="{FF2B5EF4-FFF2-40B4-BE49-F238E27FC236}">
                      <a16:creationId xmlns:a16="http://schemas.microsoft.com/office/drawing/2014/main" id="{83D8FACC-EE78-E1C6-AE43-00CAFA0E03A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A6078BFE-9F83-C28E-12FD-051E8C5B8010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39" name="Inspireren">
                  <a:extLst>
                    <a:ext uri="{FF2B5EF4-FFF2-40B4-BE49-F238E27FC236}">
                      <a16:creationId xmlns:a16="http://schemas.microsoft.com/office/drawing/2014/main" id="{08B1427C-46F9-6B49-82FD-6E3C66E95168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1" name="Freeform 12">
                    <a:extLst>
                      <a:ext uri="{FF2B5EF4-FFF2-40B4-BE49-F238E27FC236}">
                        <a16:creationId xmlns:a16="http://schemas.microsoft.com/office/drawing/2014/main" id="{3A0FC7A3-3C8E-F597-CF49-D94C6CDABF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2" name="Freeform 13">
                    <a:extLst>
                      <a:ext uri="{FF2B5EF4-FFF2-40B4-BE49-F238E27FC236}">
                        <a16:creationId xmlns:a16="http://schemas.microsoft.com/office/drawing/2014/main" id="{0AEE7C72-28A1-4329-E2F3-F00C6F02D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3" name="Freeform 14">
                    <a:extLst>
                      <a:ext uri="{FF2B5EF4-FFF2-40B4-BE49-F238E27FC236}">
                        <a16:creationId xmlns:a16="http://schemas.microsoft.com/office/drawing/2014/main" id="{A782A2E6-DF24-7E0E-54DA-AE986E4E167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0" name="Tekstvak 39">
                  <a:extLst>
                    <a:ext uri="{FF2B5EF4-FFF2-40B4-BE49-F238E27FC236}">
                      <a16:creationId xmlns:a16="http://schemas.microsoft.com/office/drawing/2014/main" id="{5C85C14F-71FC-0EC9-EC77-F93303E0B7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E0C74600-E0A1-32F6-F13A-80390DBD08F3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0" name="Rechthoek 9">
                <a:extLst>
                  <a:ext uri="{FF2B5EF4-FFF2-40B4-BE49-F238E27FC236}">
                    <a16:creationId xmlns:a16="http://schemas.microsoft.com/office/drawing/2014/main" id="{24EC8A38-F574-0E35-63BE-11DF49F4E34C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45A82A4C-DF5D-DAD5-72AA-53FF5FAB9D7C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6483ACA4-C62D-91E9-EAC0-5EDA7398955E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Ovaal 12">
                <a:extLst>
                  <a:ext uri="{FF2B5EF4-FFF2-40B4-BE49-F238E27FC236}">
                    <a16:creationId xmlns:a16="http://schemas.microsoft.com/office/drawing/2014/main" id="{526618F2-1324-5E8A-BB71-6664AC1889B7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8406F88-F7D9-1EDE-8CE6-BA8D8B59E542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5" name="Groep 14">
                <a:extLst>
                  <a:ext uri="{FF2B5EF4-FFF2-40B4-BE49-F238E27FC236}">
                    <a16:creationId xmlns:a16="http://schemas.microsoft.com/office/drawing/2014/main" id="{62069577-5F1C-3A70-6ACD-A40A9ECBECA0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894F8D05-7113-E8C0-2B1E-FF2E01C3A4B8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31" name="Rechthoek 30">
                  <a:extLst>
                    <a:ext uri="{FF2B5EF4-FFF2-40B4-BE49-F238E27FC236}">
                      <a16:creationId xmlns:a16="http://schemas.microsoft.com/office/drawing/2014/main" id="{82A9E0A3-7689-1860-1E9B-0E50481EA941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" name="Groep 15">
                <a:extLst>
                  <a:ext uri="{FF2B5EF4-FFF2-40B4-BE49-F238E27FC236}">
                    <a16:creationId xmlns:a16="http://schemas.microsoft.com/office/drawing/2014/main" id="{EA37E07D-0213-C4CD-69FE-A8048220E7CF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" name="Rechthoek 16">
                  <a:extLst>
                    <a:ext uri="{FF2B5EF4-FFF2-40B4-BE49-F238E27FC236}">
                      <a16:creationId xmlns:a16="http://schemas.microsoft.com/office/drawing/2014/main" id="{FE5D13BD-1999-6110-78C0-D7F82EDB4F64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Rechthoek 17">
                  <a:extLst>
                    <a:ext uri="{FF2B5EF4-FFF2-40B4-BE49-F238E27FC236}">
                      <a16:creationId xmlns:a16="http://schemas.microsoft.com/office/drawing/2014/main" id="{A01F8DE7-341F-F591-B409-A46B7F9D65A2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" name="Tekstvak 18">
                  <a:extLst>
                    <a:ext uri="{FF2B5EF4-FFF2-40B4-BE49-F238E27FC236}">
                      <a16:creationId xmlns:a16="http://schemas.microsoft.com/office/drawing/2014/main" id="{A8AAB229-07B8-C7CE-21D7-A6AB1D8F650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20" name="Tekstvak 19">
                  <a:extLst>
                    <a:ext uri="{FF2B5EF4-FFF2-40B4-BE49-F238E27FC236}">
                      <a16:creationId xmlns:a16="http://schemas.microsoft.com/office/drawing/2014/main" id="{CBE770A8-AA3B-F19B-BAF3-D092339DA4C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21" name="Vrije vorm: vorm 20">
                  <a:extLst>
                    <a:ext uri="{FF2B5EF4-FFF2-40B4-BE49-F238E27FC236}">
                      <a16:creationId xmlns:a16="http://schemas.microsoft.com/office/drawing/2014/main" id="{4D1992F5-364B-A1AA-BF83-EEA478039BEB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1D43394-7465-F780-625C-2049EF0FBBD2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26" name="Rechthoek 25">
                    <a:extLst>
                      <a:ext uri="{FF2B5EF4-FFF2-40B4-BE49-F238E27FC236}">
                        <a16:creationId xmlns:a16="http://schemas.microsoft.com/office/drawing/2014/main" id="{48686A95-5633-4F92-4103-8B63ADA8D7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" name="Rechthoek 26">
                    <a:extLst>
                      <a:ext uri="{FF2B5EF4-FFF2-40B4-BE49-F238E27FC236}">
                        <a16:creationId xmlns:a16="http://schemas.microsoft.com/office/drawing/2014/main" id="{2EED59AE-5793-247D-22EE-99445C5AC39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8" name="Rechthoek 27">
                    <a:extLst>
                      <a:ext uri="{FF2B5EF4-FFF2-40B4-BE49-F238E27FC236}">
                        <a16:creationId xmlns:a16="http://schemas.microsoft.com/office/drawing/2014/main" id="{292B9951-969D-2933-55CF-C20C8A85D3B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9" name="Rechthoek 282">
                    <a:extLst>
                      <a:ext uri="{FF2B5EF4-FFF2-40B4-BE49-F238E27FC236}">
                        <a16:creationId xmlns:a16="http://schemas.microsoft.com/office/drawing/2014/main" id="{24A0D8CC-21F9-7BAE-D8E7-F39F888BE809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1C06E203-D7C6-F1DC-D055-C5898F3E8459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48E01D86-B451-04DD-0A0E-70FC18279310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7924C626-1261-4B06-A851-7075F28E6DFD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49663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9C2FF999-F008-1331-E6E0-38EDC8FDB419}"/>
              </a:ext>
            </a:extLst>
          </p:cNvPr>
          <p:cNvSpPr/>
          <p:nvPr userDrawn="1"/>
        </p:nvSpPr>
        <p:spPr>
          <a:xfrm>
            <a:off x="-10750" y="0"/>
            <a:ext cx="12202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Vrije vorm: vorm 41">
            <a:extLst>
              <a:ext uri="{FF2B5EF4-FFF2-40B4-BE49-F238E27FC236}">
                <a16:creationId xmlns:a16="http://schemas.microsoft.com/office/drawing/2014/main" id="{C60BEEE3-6FC2-1913-7D0E-D2FF66473DA8}"/>
              </a:ext>
            </a:extLst>
          </p:cNvPr>
          <p:cNvSpPr/>
          <p:nvPr/>
        </p:nvSpPr>
        <p:spPr>
          <a:xfrm>
            <a:off x="-10750" y="1"/>
            <a:ext cx="12202750" cy="6857999"/>
          </a:xfrm>
          <a:custGeom>
            <a:avLst/>
            <a:gdLst>
              <a:gd name="connsiteX0" fmla="*/ 12202750 w 12202750"/>
              <a:gd name="connsiteY0" fmla="*/ 3750218 h 6857999"/>
              <a:gd name="connsiteX1" fmla="*/ 12202750 w 12202750"/>
              <a:gd name="connsiteY1" fmla="*/ 6857999 h 6857999"/>
              <a:gd name="connsiteX2" fmla="*/ 11114530 w 12202750"/>
              <a:gd name="connsiteY2" fmla="*/ 6857999 h 6857999"/>
              <a:gd name="connsiteX3" fmla="*/ 11256844 w 12202750"/>
              <a:gd name="connsiteY3" fmla="*/ 6595461 h 6857999"/>
              <a:gd name="connsiteX4" fmla="*/ 12121807 w 12202750"/>
              <a:gd name="connsiteY4" fmla="*/ 4108853 h 6857999"/>
              <a:gd name="connsiteX5" fmla="*/ 7260002 w 12202750"/>
              <a:gd name="connsiteY5" fmla="*/ 0 h 6857999"/>
              <a:gd name="connsiteX6" fmla="*/ 12202750 w 12202750"/>
              <a:gd name="connsiteY6" fmla="*/ 0 h 6857999"/>
              <a:gd name="connsiteX7" fmla="*/ 12202750 w 12202750"/>
              <a:gd name="connsiteY7" fmla="*/ 1540137 h 6857999"/>
              <a:gd name="connsiteX8" fmla="*/ 12200549 w 12202750"/>
              <a:gd name="connsiteY8" fmla="*/ 1543414 h 6857999"/>
              <a:gd name="connsiteX9" fmla="*/ 11867141 w 12202750"/>
              <a:gd name="connsiteY9" fmla="*/ 2106148 h 6857999"/>
              <a:gd name="connsiteX10" fmla="*/ 6343721 w 12202750"/>
              <a:gd name="connsiteY10" fmla="*/ 3249151 h 6857999"/>
              <a:gd name="connsiteX11" fmla="*/ 7248419 w 12202750"/>
              <a:gd name="connsiteY11" fmla="*/ 17042 h 6857999"/>
              <a:gd name="connsiteX12" fmla="*/ 0 w 12202750"/>
              <a:gd name="connsiteY12" fmla="*/ 0 h 6857999"/>
              <a:gd name="connsiteX13" fmla="*/ 4336814 w 12202750"/>
              <a:gd name="connsiteY13" fmla="*/ 0 h 6857999"/>
              <a:gd name="connsiteX14" fmla="*/ 3953814 w 12202750"/>
              <a:gd name="connsiteY14" fmla="*/ 290459 h 6857999"/>
              <a:gd name="connsiteX15" fmla="*/ 34757 w 12202750"/>
              <a:gd name="connsiteY15" fmla="*/ 4907294 h 6857999"/>
              <a:gd name="connsiteX16" fmla="*/ 0 w 12202750"/>
              <a:gd name="connsiteY16" fmla="*/ 502206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02750" h="6857999">
                <a:moveTo>
                  <a:pt x="12202750" y="3750218"/>
                </a:moveTo>
                <a:lnTo>
                  <a:pt x="12202750" y="6857999"/>
                </a:lnTo>
                <a:lnTo>
                  <a:pt x="11114530" y="6857999"/>
                </a:lnTo>
                <a:lnTo>
                  <a:pt x="11256844" y="6595461"/>
                </a:lnTo>
                <a:cubicBezTo>
                  <a:pt x="11629965" y="5862402"/>
                  <a:pt x="11898764" y="5050891"/>
                  <a:pt x="12121807" y="4108853"/>
                </a:cubicBezTo>
                <a:close/>
                <a:moveTo>
                  <a:pt x="7260002" y="0"/>
                </a:moveTo>
                <a:lnTo>
                  <a:pt x="12202750" y="0"/>
                </a:lnTo>
                <a:lnTo>
                  <a:pt x="12202750" y="1540137"/>
                </a:lnTo>
                <a:lnTo>
                  <a:pt x="12200549" y="1543414"/>
                </a:lnTo>
                <a:cubicBezTo>
                  <a:pt x="12110526" y="1684115"/>
                  <a:pt x="12003525" y="1893029"/>
                  <a:pt x="11867141" y="2106148"/>
                </a:cubicBezTo>
                <a:cubicBezTo>
                  <a:pt x="10880238" y="3959252"/>
                  <a:pt x="7486531" y="6089453"/>
                  <a:pt x="6343721" y="3249151"/>
                </a:cubicBezTo>
                <a:cubicBezTo>
                  <a:pt x="5919494" y="2184051"/>
                  <a:pt x="6486561" y="1153587"/>
                  <a:pt x="7248419" y="17042"/>
                </a:cubicBezTo>
                <a:close/>
                <a:moveTo>
                  <a:pt x="0" y="0"/>
                </a:moveTo>
                <a:lnTo>
                  <a:pt x="4336814" y="0"/>
                </a:lnTo>
                <a:lnTo>
                  <a:pt x="3953814" y="290459"/>
                </a:lnTo>
                <a:cubicBezTo>
                  <a:pt x="2295623" y="1565228"/>
                  <a:pt x="719287" y="2947698"/>
                  <a:pt x="34757" y="4907294"/>
                </a:cubicBezTo>
                <a:lnTo>
                  <a:pt x="0" y="5022063"/>
                </a:lnTo>
                <a:close/>
              </a:path>
            </a:pathLst>
          </a:custGeom>
          <a:solidFill>
            <a:srgbClr val="00B8C8"/>
          </a:solidFill>
          <a:ln w="173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859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Closure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8356D135-3DCC-4F43-956C-8E084B5B3B73}" type="datetime1">
              <a:rPr lang="nl-NL" smtClean="0"/>
              <a:t>12-6-2026</a:t>
            </a:fld>
            <a:endParaRPr lang="en-GB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2673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457369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03B48DA-2759-4DC2-ADEB-419D18991E4A}" type="datetime1">
              <a:rPr lang="nl-NL" smtClean="0"/>
              <a:t>12-6-2026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37508DF-E7AE-13D6-A5D2-641AAF042AA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B292675-B31B-1A55-BD2C-CDC7BD1CA44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5309F0-A4E8-85D2-9E3E-CD49CB4ACB6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274035FC-FAE5-FEDD-FC98-2DC0B4C24BC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37703DCC-3613-510F-E6EF-B5E9E9799A4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57BEEE0-E6E0-FB2B-D415-EFFBE579EBC6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4A8D04C8-99F4-D837-93EF-0CEF277D20BF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85181B5-3158-376F-D926-AFA9513F2A9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32DDA1C-171F-8981-2B90-6FD5AE5AE94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A02263B-52A4-C14C-D38F-4716D86E624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A6C7CC7F-B1A2-466F-BC08-67D17171E5CA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6A00CAE5-EA4E-3025-8837-EA7504B1D9F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F41C09A2-C386-E45E-EA25-81D4F165148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9B5207EA-F3B0-451A-9F45-19370FF77EB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205AA4BC-7FD8-C844-72C1-057F452AA5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FC95C2C-6412-7491-A24B-BE1590B0990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032E4A44-CF49-C369-C31E-82F68244C42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B88B0BBC-401D-B4B9-EAB9-5F732A603B2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10923C3B-92D8-3D47-9A1C-12BD19290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00353552-7BED-DF4A-354B-1CF349A22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A0A50B02-FA01-EBB9-5857-57CCBD40A9D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4D2AF1E5-FFF3-DAA5-C984-86F4BCBE2FB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9" name="ICOON_info">
              <a:extLst>
                <a:ext uri="{FF2B5EF4-FFF2-40B4-BE49-F238E27FC236}">
                  <a16:creationId xmlns:a16="http://schemas.microsoft.com/office/drawing/2014/main" id="{2748128B-F3DF-8964-29ED-3D14A1FB1EF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DDA583D6-D08D-95C4-A005-D82C60FD32F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C4BE452F-9BDF-A18D-0A7D-AE18F26993F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" name="VOORBEELD">
              <a:extLst>
                <a:ext uri="{FF2B5EF4-FFF2-40B4-BE49-F238E27FC236}">
                  <a16:creationId xmlns:a16="http://schemas.microsoft.com/office/drawing/2014/main" id="{BCBE1EE9-F025-40A3-DAA5-C00A8F948100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6D4FCD4E-E6C2-559E-740C-BD3369614F9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F538757F-568E-4976-EF92-B878B06C834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8174DEE9-1EA6-20ED-3D9D-BB2603482DE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0" name="Groep 69">
                  <a:extLst>
                    <a:ext uri="{FF2B5EF4-FFF2-40B4-BE49-F238E27FC236}">
                      <a16:creationId xmlns:a16="http://schemas.microsoft.com/office/drawing/2014/main" id="{0D1A3735-2B7A-FFC7-051F-149C12647F5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64E3276F-49E2-0662-ECF1-9C8A1C0E0C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F64D2204-8B03-7D97-0C60-288B8466B4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C2604207-5D6B-EF04-2B7A-80E2010DBE8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B408F0C2-D0E5-B3F9-CDCB-95445399A2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724B0BCE-2A38-E76C-9EA2-2C55A56D34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1" name="Pijl: rechts 70">
                  <a:extLst>
                    <a:ext uri="{FF2B5EF4-FFF2-40B4-BE49-F238E27FC236}">
                      <a16:creationId xmlns:a16="http://schemas.microsoft.com/office/drawing/2014/main" id="{C33085CB-98EA-39F4-85B3-7753B789EE4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211BFD96-7DB8-EEE6-7010-BCB6BA4C543F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59AB1ED-C075-609B-CE74-4A2A4D0B290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CD8A9BA2-5A9F-EAE1-5568-4D6D601A86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2D8F76A-79D8-E421-3CA4-A053AE88A4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CB7FB5FE-22DF-9FE1-40CA-3DF9C03406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478A052E-2E80-0B09-7391-A07054E9D6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0EE57897-7B96-6834-B33C-C46342E0F2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4" name="Pijl: rechts 63">
                  <a:extLst>
                    <a:ext uri="{FF2B5EF4-FFF2-40B4-BE49-F238E27FC236}">
                      <a16:creationId xmlns:a16="http://schemas.microsoft.com/office/drawing/2014/main" id="{1EE7C1A8-F4A3-2DFD-F5D3-1DBBD741C63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D5EE5550-53F1-A3FA-624E-D82C7A4806C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2" name="Rechte verbindingslijn 41">
                <a:extLst>
                  <a:ext uri="{FF2B5EF4-FFF2-40B4-BE49-F238E27FC236}">
                    <a16:creationId xmlns:a16="http://schemas.microsoft.com/office/drawing/2014/main" id="{976EC336-1566-A061-0BFC-9D665C8B01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4CCB6AAC-6450-2ED9-21C1-390C5D84C5D7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09BBA50-E454-731D-445E-61A0E20CAFD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E6299F8D-2530-CD86-49B1-B21076DE7FD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B6BA80A6-3080-1B5D-9BA0-2E05C4C2DFC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6" name="Groep 55">
                  <a:extLst>
                    <a:ext uri="{FF2B5EF4-FFF2-40B4-BE49-F238E27FC236}">
                      <a16:creationId xmlns:a16="http://schemas.microsoft.com/office/drawing/2014/main" id="{9554AB33-7133-1169-EDDC-77429B9C16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93F65E9-5995-281D-B5E6-D05B120B5D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A4968D85-AB9D-DDFB-CDDD-8430ECE46E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2D3ADD57-7DCA-42D2-78F4-7D31A2159A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D1210B4-9A58-1F7D-1F68-6FA23AD1B6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ABAC1B0-CED1-B770-5C1F-1E28A9CF59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7" name="Pijl: rechts 56">
                  <a:extLst>
                    <a:ext uri="{FF2B5EF4-FFF2-40B4-BE49-F238E27FC236}">
                      <a16:creationId xmlns:a16="http://schemas.microsoft.com/office/drawing/2014/main" id="{0D11D7DA-EA9F-B8F5-4069-C3537032C7B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6" name="Groep 45">
                <a:extLst>
                  <a:ext uri="{FF2B5EF4-FFF2-40B4-BE49-F238E27FC236}">
                    <a16:creationId xmlns:a16="http://schemas.microsoft.com/office/drawing/2014/main" id="{339BAD63-756C-7F62-0EBB-D926343AC49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6390F651-A213-85A1-438F-DA57CB84D7D3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94CE63C1-616F-141B-D19C-DED13D6C658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BF0C2197-CACB-B4E4-A2E4-566797CD7E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190BDEE9-CF49-BE46-5188-5D10ACDA5F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C52FB0A9-A081-6ABD-0104-4D69BC6047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90AADF44-5DAD-C621-08AF-BA2CECCC28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F34EBD70-3E9F-6F1F-5976-97222BD624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9" name="Pijl: rechts 48">
                  <a:extLst>
                    <a:ext uri="{FF2B5EF4-FFF2-40B4-BE49-F238E27FC236}">
                      <a16:creationId xmlns:a16="http://schemas.microsoft.com/office/drawing/2014/main" id="{F2DF7555-0BAD-5E82-C70F-311AF2D096A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F5190837-775F-410C-906A-BB5FCA95E368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2" name="Inspireren">
                <a:extLst>
                  <a:ext uri="{FF2B5EF4-FFF2-40B4-BE49-F238E27FC236}">
                    <a16:creationId xmlns:a16="http://schemas.microsoft.com/office/drawing/2014/main" id="{D30132C9-2025-5C44-46AE-221ABEFB5E0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4" name="Freeform 12">
                  <a:extLst>
                    <a:ext uri="{FF2B5EF4-FFF2-40B4-BE49-F238E27FC236}">
                      <a16:creationId xmlns:a16="http://schemas.microsoft.com/office/drawing/2014/main" id="{DCDB8C4F-1930-4C7B-600F-9099358475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3">
                  <a:extLst>
                    <a:ext uri="{FF2B5EF4-FFF2-40B4-BE49-F238E27FC236}">
                      <a16:creationId xmlns:a16="http://schemas.microsoft.com/office/drawing/2014/main" id="{0F4655FA-5BCA-5C0C-7839-6BDE067F0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6" name="Freeform 14">
                  <a:extLst>
                    <a:ext uri="{FF2B5EF4-FFF2-40B4-BE49-F238E27FC236}">
                      <a16:creationId xmlns:a16="http://schemas.microsoft.com/office/drawing/2014/main" id="{4C8E76B0-8063-A13C-8266-95910CE7688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3" name="Tekstvak 32">
                <a:extLst>
                  <a:ext uri="{FF2B5EF4-FFF2-40B4-BE49-F238E27FC236}">
                    <a16:creationId xmlns:a16="http://schemas.microsoft.com/office/drawing/2014/main" id="{771AE7A1-D522-5F70-E69D-F82BBBDBD65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783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00893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Title only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67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D511B4CD-103C-593D-613C-2346A35667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989968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image</a:t>
            </a:r>
          </a:p>
        </p:txBody>
      </p:sp>
      <p:grpSp>
        <p:nvGrpSpPr>
          <p:cNvPr id="8" name="Graphic 4">
            <a:extLst>
              <a:ext uri="{FF2B5EF4-FFF2-40B4-BE49-F238E27FC236}">
                <a16:creationId xmlns:a16="http://schemas.microsoft.com/office/drawing/2014/main" id="{F8EDA2E5-8990-6524-1F90-5CF9A0ABE743}"/>
              </a:ext>
            </a:extLst>
          </p:cNvPr>
          <p:cNvGrpSpPr/>
          <p:nvPr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14F687E5-3F7F-C866-9EB7-85E0F55F5463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9449444-9956-51CD-FA6E-807D2DAA76C3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38D46059-DB59-DD28-5BD0-842E6FDED580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1D9EED3E-2DF3-39B2-4ABF-9A9E2C76D6B1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FE872223-5E47-AEA4-3F51-C5DC13B053E8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3E81D4D2-DEFC-7F03-C7F1-7B01AE4AF1EC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22E0BAD8-5DCF-72B7-FB7A-91979F996E51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6779A44D-156E-169E-45E9-81901A8F6C6D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5865553" cy="1333698"/>
          </a:xfrm>
        </p:spPr>
        <p:txBody>
          <a:bodyPr wrap="square" anchor="b" anchorCtr="0">
            <a:spAutoFit/>
          </a:bodyPr>
          <a:lstStyle>
            <a:lvl1pPr marL="0" indent="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3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5871541" cy="332399"/>
          </a:xfrm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5813671"/>
            <a:ext cx="766235" cy="184666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90CA508-B273-4D53-A64E-FB05E270E0EA}" type="datetime1">
              <a:rPr lang="nl-NL" smtClean="0"/>
              <a:t>12-6-2026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7797F04D-8400-F770-AED2-A49B8F1C4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7308357" y="0"/>
            <a:ext cx="488364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</a:t>
            </a:r>
            <a:br>
              <a:rPr lang="en-GB" noProof="0"/>
            </a:br>
            <a:r>
              <a:rPr lang="en-GB" noProof="0"/>
              <a:t>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83D36BAF-6A46-FC70-F348-9474E690DA0E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0DBC8A3-9289-CF0F-D83A-22ACEA901D9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4B3C2751-ECA8-33FA-C952-CE2744AF394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153EE913-A752-7B9F-74CE-B992B74D85E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E075884-D63D-46F1-2CE9-D356783C7476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B282691-AE0D-DE69-2960-8B2159DDCF08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D772366-0161-D434-5A40-B5AB54A2111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05EF644-5856-009F-B6B2-2388E6B26ED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956B1FB0-6592-EF9B-BE28-215FB072E5AF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0F71E3C-E372-CF85-F539-0EF7E3B9730B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D1D8DD9D-7249-438D-35D0-2B2C4567EF4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B882E159-1ED3-DF4C-C190-0DCB38B3E7E1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7" name="Groep 66">
                <a:extLst>
                  <a:ext uri="{FF2B5EF4-FFF2-40B4-BE49-F238E27FC236}">
                    <a16:creationId xmlns:a16="http://schemas.microsoft.com/office/drawing/2014/main" id="{0196836D-26AB-A279-ACAB-AB403730A39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0" name="Rechthoek: afgeronde hoeken 79">
                  <a:extLst>
                    <a:ext uri="{FF2B5EF4-FFF2-40B4-BE49-F238E27FC236}">
                      <a16:creationId xmlns:a16="http://schemas.microsoft.com/office/drawing/2014/main" id="{7F8EFFB0-0CC4-7DB1-BE0B-6DB955BD6066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18F9C8D2-CE79-6EAE-50AF-9849C54D6923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D3E71A50-FF9D-B0D1-159A-433E0E0212C5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92A06DF3-7127-E117-C4FA-058C92952B7C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CAE7B77C-A11C-A7B6-ED26-0A86A8D03180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95FC68D1-45F6-ED57-6C16-27D094F4F43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8" name="Groep 67">
                <a:extLst>
                  <a:ext uri="{FF2B5EF4-FFF2-40B4-BE49-F238E27FC236}">
                    <a16:creationId xmlns:a16="http://schemas.microsoft.com/office/drawing/2014/main" id="{501764F9-4AFD-49E8-A051-14921FBEB23C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8550AB30-CCC2-55D0-DBC6-968B8DC1779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4" name="Rechthoek: afgeronde hoeken 73">
                    <a:extLst>
                      <a:ext uri="{FF2B5EF4-FFF2-40B4-BE49-F238E27FC236}">
                        <a16:creationId xmlns:a16="http://schemas.microsoft.com/office/drawing/2014/main" id="{9AD397C1-9A0D-4045-5CFE-4CB7616B8F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D6FB3632-AE4D-BD05-04B5-283C1C0A7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3825DE90-E1E8-E8E9-7FFA-20EF5879843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B0A9C8C9-1044-AAA0-FA7C-0EEDC36BD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5F22B0D9-CD89-E8BF-06C7-727E559C996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50E97EF3-D92F-40DC-6800-1E4D6FBE86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3" name="Boog 72">
                  <a:extLst>
                    <a:ext uri="{FF2B5EF4-FFF2-40B4-BE49-F238E27FC236}">
                      <a16:creationId xmlns:a16="http://schemas.microsoft.com/office/drawing/2014/main" id="{49E1B6D8-6B64-EED4-4C17-8D0A2188029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2F5337C6-56DA-3C8C-0AD5-CC6BCBCA004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3E753270-D0FD-33A8-CD11-C4E6B9F3A94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1" name="Vrije vorm: vorm 70">
                <a:extLst>
                  <a:ext uri="{FF2B5EF4-FFF2-40B4-BE49-F238E27FC236}">
                    <a16:creationId xmlns:a16="http://schemas.microsoft.com/office/drawing/2014/main" id="{38CAF6E8-E8ED-D666-5B19-37C9B432DF67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4DDCD2BF-56A1-C7A7-1E59-921EF643774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2F30809B-DBBE-F925-DC39-FF534F148193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56" name="ICOON_info">
                <a:extLst>
                  <a:ext uri="{FF2B5EF4-FFF2-40B4-BE49-F238E27FC236}">
                    <a16:creationId xmlns:a16="http://schemas.microsoft.com/office/drawing/2014/main" id="{A1CC24CF-86A8-0341-843B-C83E7B3CA33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3" name="Ovaal 62">
                  <a:extLst>
                    <a:ext uri="{FF2B5EF4-FFF2-40B4-BE49-F238E27FC236}">
                      <a16:creationId xmlns:a16="http://schemas.microsoft.com/office/drawing/2014/main" id="{4A16FB29-FA8B-47B1-FEC2-19BD7198879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4" name="Graphic 163" descr="Informatie">
                  <a:extLst>
                    <a:ext uri="{FF2B5EF4-FFF2-40B4-BE49-F238E27FC236}">
                      <a16:creationId xmlns:a16="http://schemas.microsoft.com/office/drawing/2014/main" id="{17E78844-0BC9-1CDF-B1E9-D9B35A17B8E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AFCFFF33-03DE-784A-46BF-341491AD82C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8" name="Inspireren">
                  <a:extLst>
                    <a:ext uri="{FF2B5EF4-FFF2-40B4-BE49-F238E27FC236}">
                      <a16:creationId xmlns:a16="http://schemas.microsoft.com/office/drawing/2014/main" id="{1EBCEBD5-B620-0008-D93C-CD46A9E4DC71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Freeform 12">
                    <a:extLst>
                      <a:ext uri="{FF2B5EF4-FFF2-40B4-BE49-F238E27FC236}">
                        <a16:creationId xmlns:a16="http://schemas.microsoft.com/office/drawing/2014/main" id="{664BC5D7-F973-42A1-046B-9FAA1A70EA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1" name="Freeform 13">
                    <a:extLst>
                      <a:ext uri="{FF2B5EF4-FFF2-40B4-BE49-F238E27FC236}">
                        <a16:creationId xmlns:a16="http://schemas.microsoft.com/office/drawing/2014/main" id="{CB24A030-65C8-B635-D99A-2DE8D174DC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2" name="Freeform 14">
                    <a:extLst>
                      <a:ext uri="{FF2B5EF4-FFF2-40B4-BE49-F238E27FC236}">
                        <a16:creationId xmlns:a16="http://schemas.microsoft.com/office/drawing/2014/main" id="{2E2608C8-94F2-68AD-B9A3-7E3A53AA88F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9" name="Tekstvak 58">
                  <a:extLst>
                    <a:ext uri="{FF2B5EF4-FFF2-40B4-BE49-F238E27FC236}">
                      <a16:creationId xmlns:a16="http://schemas.microsoft.com/office/drawing/2014/main" id="{934212D2-1CC6-46C2-A7C9-1B6FA93A125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8" name="Groep 27">
              <a:extLst>
                <a:ext uri="{FF2B5EF4-FFF2-40B4-BE49-F238E27FC236}">
                  <a16:creationId xmlns:a16="http://schemas.microsoft.com/office/drawing/2014/main" id="{FC14F5F2-A02F-5E50-6A14-8376C836154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1359FB6E-97D1-FE9C-24B0-3A3C7BC9CAE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7D8E78B9-21BE-2D3A-A385-42849214C48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CD013D78-525B-059E-963E-23A760AF2C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7C74C419-82F3-C3A9-4CB6-BC24111FE3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Rechthoek 52">
                      <a:extLst>
                        <a:ext uri="{FF2B5EF4-FFF2-40B4-BE49-F238E27FC236}">
                          <a16:creationId xmlns:a16="http://schemas.microsoft.com/office/drawing/2014/main" id="{C97B16C7-D52D-71EF-1439-2E7BC3CBA4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Ovaal 53">
                      <a:extLst>
                        <a:ext uri="{FF2B5EF4-FFF2-40B4-BE49-F238E27FC236}">
                          <a16:creationId xmlns:a16="http://schemas.microsoft.com/office/drawing/2014/main" id="{D55B39D2-4BAE-ADC3-26B7-F399857FAF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1FB4176A-87C0-215F-7224-5B51FEFB67D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1" name="Afbeelding 50">
                    <a:extLst>
                      <a:ext uri="{FF2B5EF4-FFF2-40B4-BE49-F238E27FC236}">
                        <a16:creationId xmlns:a16="http://schemas.microsoft.com/office/drawing/2014/main" id="{1A29BF32-DB27-0F5C-C35B-C1564D2FA9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874A8D92-0691-A56C-A1F6-FF9982D3AB2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0D7559F1-D122-8FE2-D04A-D1E9D7CF62F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CB2E1E51-E0F4-ED2F-6D47-B5E635C3220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B20A7472-851D-3CBE-039E-867905EC7CA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7F0241A6-93EC-6B9E-D265-D69E8EC087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D2D6E925-8607-C578-819D-48C0847C57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24514FF6-A8F5-5D82-43A9-25335D2E2AB4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1" name="Gelijkbenige driehoek 40">
                <a:extLst>
                  <a:ext uri="{FF2B5EF4-FFF2-40B4-BE49-F238E27FC236}">
                    <a16:creationId xmlns:a16="http://schemas.microsoft.com/office/drawing/2014/main" id="{D4645E96-47C9-6A85-74BF-91A9F504C58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7447DC81-DAF1-BC5C-7227-5C73C07C3A2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96DF473B-A274-D352-2252-11610BC8E15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14006B4-E1E5-D6BC-0279-4A3208C9047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B30A9797-A377-19E2-5757-2556ABDBC3C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39696BC7-29FA-2D1C-435A-539D319391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5" name="Vrije vorm: vorm 34">
                  <a:extLst>
                    <a:ext uri="{FF2B5EF4-FFF2-40B4-BE49-F238E27FC236}">
                      <a16:creationId xmlns:a16="http://schemas.microsoft.com/office/drawing/2014/main" id="{F3989D1B-0E51-EF74-F735-A317ADA5C7C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5F6C71FC-BCA9-229A-F6C7-077055F7974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5A41684E-F2CE-5023-633D-6D7337B8EC6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8" name="Vrije vorm: vorm 37">
                    <a:extLst>
                      <a:ext uri="{FF2B5EF4-FFF2-40B4-BE49-F238E27FC236}">
                        <a16:creationId xmlns:a16="http://schemas.microsoft.com/office/drawing/2014/main" id="{262BF2D2-D3B0-7919-3557-F356FE48418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447868DC-4E78-0363-A8D7-CF69A490970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570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1BDEED87-6B56-4161-9E14-2FCC2CD9D2C7}" type="datetime1">
              <a:rPr lang="nl-NL" smtClean="0"/>
              <a:t>12-6-2026</a:t>
            </a:fld>
            <a:endParaRPr lang="en-GB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 userDrawn="1"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 userDrawn="1"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 userDrawn="1"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 userDrawn="1"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0" r:id="rId2"/>
    <p:sldLayoutId id="2147483724" r:id="rId3"/>
    <p:sldLayoutId id="2147483697" r:id="rId4"/>
    <p:sldLayoutId id="2147483715" r:id="rId5"/>
    <p:sldLayoutId id="2147483708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3"/>
        </a:buClr>
        <a:buFont typeface="Segoe UI Light" panose="020B0502040204020203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 userDrawn="1">
          <p15:clr>
            <a:srgbClr val="5ACBF0"/>
          </p15:clr>
        </p15:guide>
        <p15:guide id="2" pos="453" userDrawn="1">
          <p15:clr>
            <a:srgbClr val="5ACBF0"/>
          </p15:clr>
        </p15:guide>
        <p15:guide id="3" orient="horz" pos="3780" userDrawn="1">
          <p15:clr>
            <a:srgbClr val="5ACBF0"/>
          </p15:clr>
        </p15:guide>
        <p15:guide id="6" pos="7226" userDrawn="1">
          <p15:clr>
            <a:srgbClr val="5ACBF0"/>
          </p15:clr>
        </p15:guide>
        <p15:guide id="9" orient="horz" pos="453" userDrawn="1">
          <p15:clr>
            <a:srgbClr val="5ACBF0"/>
          </p15:clr>
        </p15:guide>
        <p15:guide id="10" orient="horz" pos="659" userDrawn="1">
          <p15:clr>
            <a:srgbClr val="5ACBF0"/>
          </p15:clr>
        </p15:guide>
        <p15:guide id="12" orient="horz" pos="4032" userDrawn="1">
          <p15:clr>
            <a:srgbClr val="A4A3A4"/>
          </p15:clr>
        </p15:guide>
        <p15:guide id="13" pos="7680" userDrawn="1">
          <p15:clr>
            <a:srgbClr val="F26B43"/>
          </p15:clr>
        </p15:guide>
        <p15:guide id="14" orient="horz" pos="4320" userDrawn="1">
          <p15:clr>
            <a:srgbClr val="F26B43"/>
          </p15:clr>
        </p15:guide>
        <p15:guide id="15" orient="horz" pos="4151" userDrawn="1">
          <p15:clr>
            <a:srgbClr val="A4A3A4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3D01DCAA-C39F-ACDA-4844-39618ABD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9019"/>
            <a:ext cx="1989968" cy="276999"/>
          </a:xfrm>
        </p:spPr>
        <p:txBody>
          <a:bodyPr/>
          <a:lstStyle/>
          <a:p>
            <a:r>
              <a:rPr lang="en-GB"/>
              <a:t>Title slide + image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A884CDCD-0E44-F407-E5AB-9B0E06B00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138" y="3950387"/>
            <a:ext cx="5865553" cy="1333698"/>
          </a:xfrm>
        </p:spPr>
        <p:txBody>
          <a:bodyPr/>
          <a:lstStyle/>
          <a:p>
            <a:r>
              <a:rPr lang="en-GB"/>
              <a:t>Processor Design Project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A802F9E8-CCFC-7D2C-9635-1A48F34ACE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137" y="5404234"/>
            <a:ext cx="5871541" cy="332399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Group 24</a:t>
            </a:r>
            <a:endParaRPr lang="en-GB" noProof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3B519A7-8D6B-87C4-BBFC-D7BFEC513ED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5813671"/>
            <a:ext cx="766235" cy="184666"/>
          </a:xfrm>
        </p:spPr>
        <p:txBody>
          <a:bodyPr/>
          <a:lstStyle/>
          <a:p>
            <a:fld id="{A70DA17A-8D2C-4A91-9743-4EE9C30B5D2E}" type="datetime1">
              <a:rPr lang="nl-NL" smtClean="0"/>
              <a:t>12-6-2026</a:t>
            </a:fld>
            <a:endParaRPr lang="en-GB"/>
          </a:p>
        </p:txBody>
      </p:sp>
      <p:pic>
        <p:nvPicPr>
          <p:cNvPr id="11" name="image11.jpeg" descr="image11.jpeg">
            <a:extLst>
              <a:ext uri="{FF2B5EF4-FFF2-40B4-BE49-F238E27FC236}">
                <a16:creationId xmlns:a16="http://schemas.microsoft.com/office/drawing/2014/main" id="{0E45FCEB-BC1F-A22E-2EAB-6BD43EE343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710" r="16710"/>
          <a:stretch/>
        </p:blipFill>
        <p:spPr>
          <a:xfrm>
            <a:off x="7308357" y="0"/>
            <a:ext cx="4883643" cy="6858000"/>
          </a:xfrm>
          <a:ln w="12700" cap="flat">
            <a:noFill/>
            <a:miter lim="400000"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0C945C-3264-9CCC-45F7-F029285AC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626" y="-1115"/>
            <a:ext cx="4884703" cy="686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0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1532BA-A567-0EE4-37B3-F34E9863517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83FA54-2DFB-3B88-55E5-4B5167FB9D2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28AB94-866E-5255-79C3-EA68FE03B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Context: Why AES is needed?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7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994BAD7-1490-F4D5-9092-3EB7111B7DF7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087A43E6-197A-4232-A775-7017A41F9758}" type="datetime1">
              <a:rPr lang="nl-NL" smtClean="0"/>
              <a:pPr>
                <a:spcAft>
                  <a:spcPts val="600"/>
                </a:spcAft>
              </a:pPr>
              <a:t>12-6-2026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BBB35617-5649-3A69-5ACC-A5828B3F289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9E843DB9-9987-4157-AB9C-CEA8D7D910BB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4E840CAD-8869-66D6-F142-07912B6A4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 anchor="ctr">
            <a:noAutofit/>
          </a:bodyPr>
          <a:lstStyle/>
          <a:p>
            <a:r>
              <a:rPr lang="en-US" sz="2500" b="0">
                <a:highlight>
                  <a:srgbClr val="FFFFFF"/>
                </a:highlight>
                <a:ea typeface="+mj-lt"/>
                <a:cs typeface="+mj-lt"/>
              </a:rPr>
              <a:t>Advanced Encryption Standard (</a:t>
            </a:r>
            <a:r>
              <a:rPr lang="en-US" sz="2400"/>
              <a:t>AES)</a:t>
            </a:r>
            <a:endParaRPr lang="en-US" sz="2400">
              <a:cs typeface="Arial"/>
            </a:endParaRP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73C0F465-AC54-5AF4-B9C9-64F21371EF3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8666" y="1236363"/>
            <a:ext cx="5185805" cy="4352544"/>
          </a:xfrm>
        </p:spPr>
        <p:txBody>
          <a:bodyPr vert="horz" lIns="0" tIns="0" rIns="0" bIns="0" rtlCol="0" anchor="t">
            <a:normAutofit/>
          </a:bodyPr>
          <a:lstStyle/>
          <a:p>
            <a:pPr lvl="2"/>
            <a:r>
              <a:rPr lang="en-US" b="1">
                <a:ea typeface="+mn-lt"/>
                <a:cs typeface="+mn-lt"/>
              </a:rPr>
              <a:t>What is AES?</a:t>
            </a:r>
            <a:endParaRPr lang="en-US"/>
          </a:p>
          <a:p>
            <a:pPr>
              <a:buClr>
                <a:srgbClr val="00A6D6"/>
              </a:buCl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Symmetric block cipher — same key for encryption and decryption</a:t>
            </a:r>
            <a:endParaRPr lang="en-US"/>
          </a:p>
          <a:p>
            <a:pPr>
              <a:buClr>
                <a:srgbClr val="00A6D6"/>
              </a:buCl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Operates on a </a:t>
            </a:r>
            <a:r>
              <a:rPr lang="en-US" b="1">
                <a:ea typeface="+mn-lt"/>
                <a:cs typeface="+mn-lt"/>
              </a:rPr>
              <a:t>4×4 matrix of bytes</a:t>
            </a:r>
            <a:r>
              <a:rPr lang="en-US">
                <a:ea typeface="+mn-lt"/>
                <a:cs typeface="+mn-lt"/>
              </a:rPr>
              <a:t> called the </a:t>
            </a:r>
            <a:r>
              <a:rPr lang="en-US" b="1">
                <a:ea typeface="+mn-lt"/>
                <a:cs typeface="+mn-lt"/>
              </a:rPr>
              <a:t>state</a:t>
            </a:r>
            <a:r>
              <a:rPr lang="en-US">
                <a:ea typeface="+mn-lt"/>
                <a:cs typeface="+mn-lt"/>
              </a:rPr>
              <a:t> (= 128 bits)</a:t>
            </a:r>
            <a:endParaRPr lang="en-US"/>
          </a:p>
          <a:p>
            <a:pPr>
              <a:buClr>
                <a:srgbClr val="00A6D6"/>
              </a:buCl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Key is expanded into </a:t>
            </a:r>
            <a:r>
              <a:rPr lang="en-US" b="1">
                <a:ea typeface="+mn-lt"/>
                <a:cs typeface="+mn-lt"/>
              </a:rPr>
              <a:t>11 round keys</a:t>
            </a:r>
            <a:r>
              <a:rPr lang="en-US">
                <a:ea typeface="+mn-lt"/>
                <a:cs typeface="+mn-lt"/>
              </a:rPr>
              <a:t> via the key schedule</a:t>
            </a:r>
            <a:endParaRPr lang="en-US"/>
          </a:p>
          <a:p>
            <a:pPr lvl="2"/>
            <a:endParaRPr lang="en-US" kern="1200"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95A8AA-1FB9-BD20-7205-ECDD8C618C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87" r="4" b="6033"/>
          <a:stretch>
            <a:fillRect/>
          </a:stretch>
        </p:blipFill>
        <p:spPr>
          <a:xfrm>
            <a:off x="6285471" y="1236363"/>
            <a:ext cx="5185805" cy="4352544"/>
          </a:xfrm>
          <a:prstGeom prst="rect">
            <a:avLst/>
          </a:prstGeom>
          <a:noFill/>
        </p:spPr>
      </p:pic>
      <p:pic>
        <p:nvPicPr>
          <p:cNvPr id="3" name="Picture 2" descr="Advanced Encryption Standard - Wikipedia">
            <a:extLst>
              <a:ext uri="{FF2B5EF4-FFF2-40B4-BE49-F238E27FC236}">
                <a16:creationId xmlns:a16="http://schemas.microsoft.com/office/drawing/2014/main" id="{0DD8A2EF-D895-98DD-4D3D-EA1F87646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66" y="3974914"/>
            <a:ext cx="3999834" cy="223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6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5B1BE-E960-A1BA-719C-7AAABC9D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0FDE936-3BB3-63B2-5CB5-5C4FC8C7BC1A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087A43E6-197A-4232-A775-7017A41F9758}" type="datetime1">
              <a:rPr lang="nl-NL" smtClean="0"/>
              <a:pPr>
                <a:spcAft>
                  <a:spcPts val="600"/>
                </a:spcAft>
              </a:pPr>
              <a:t>12-6-2026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0C23A22A-FE7A-7F93-C7BF-EE05AEAA0CE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9E843DB9-9987-4157-AB9C-CEA8D7D910BB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3D13561E-548A-3F88-1820-7E605FD4E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 anchor="ctr">
            <a:noAutofit/>
          </a:bodyPr>
          <a:lstStyle/>
          <a:p>
            <a:r>
              <a:rPr lang="en-US" sz="2500" b="0">
                <a:highlight>
                  <a:srgbClr val="FFFFFF"/>
                </a:highlight>
                <a:ea typeface="+mj-lt"/>
                <a:cs typeface="+mj-lt"/>
              </a:rPr>
              <a:t>Advanced Encryption Standard </a:t>
            </a:r>
            <a:r>
              <a:rPr lang="en-US" sz="2500" b="0">
                <a:highlight>
                  <a:srgbClr val="FFFFFF"/>
                </a:highlight>
              </a:rPr>
              <a:t>(</a:t>
            </a:r>
            <a:r>
              <a:rPr lang="en-US" sz="2400"/>
              <a:t>AES)</a:t>
            </a:r>
            <a:endParaRPr lang="en-US" sz="2400">
              <a:cs typeface="Arial"/>
            </a:endParaRP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AF2C7E4-2626-0F4C-15F7-8057D138F09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8666" y="1236363"/>
            <a:ext cx="6835197" cy="4352544"/>
          </a:xfrm>
        </p:spPr>
        <p:txBody>
          <a:bodyPr vert="horz" lIns="0" tIns="0" rIns="0" bIns="0" rtlCol="0" anchor="t">
            <a:normAutofit/>
          </a:bodyPr>
          <a:lstStyle/>
          <a:p>
            <a:pPr lvl="2"/>
            <a:r>
              <a:rPr lang="en-US" b="1">
                <a:ea typeface="+mn-lt"/>
                <a:cs typeface="+mn-lt"/>
              </a:rPr>
              <a:t>How does AES work?</a:t>
            </a:r>
          </a:p>
          <a:p>
            <a:pPr lvl="2"/>
            <a:r>
              <a:rPr lang="en-US" b="1">
                <a:ea typeface="+mn-lt"/>
                <a:cs typeface="+mn-lt"/>
              </a:rPr>
              <a:t>Initial Round</a:t>
            </a:r>
            <a:r>
              <a:rPr lang="en-US">
                <a:ea typeface="+mn-lt"/>
                <a:cs typeface="+mn-lt"/>
              </a:rPr>
              <a:t> Plain text </a:t>
            </a:r>
            <a:r>
              <a:rPr lang="en-US" err="1">
                <a:ea typeface="+mn-lt"/>
                <a:cs typeface="+mn-lt"/>
              </a:rPr>
              <a:t>XOR'd</a:t>
            </a:r>
            <a:r>
              <a:rPr lang="en-US">
                <a:ea typeface="+mn-lt"/>
                <a:cs typeface="+mn-lt"/>
              </a:rPr>
              <a:t> with round key 0 </a:t>
            </a:r>
            <a:endParaRPr lang="en-US">
              <a:cs typeface="Arial"/>
            </a:endParaRPr>
          </a:p>
          <a:p>
            <a:pPr lvl="2"/>
            <a:r>
              <a:rPr lang="en-US" b="1">
                <a:ea typeface="+mn-lt"/>
                <a:cs typeface="+mn-lt"/>
              </a:rPr>
              <a:t>Middle Rounds × 9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00A6D6"/>
              </a:buClr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SubBytes</a:t>
            </a:r>
            <a:r>
              <a:rPr lang="en-US">
                <a:ea typeface="+mn-lt"/>
                <a:cs typeface="+mn-lt"/>
              </a:rPr>
              <a:t> — Byte substitution via S-box (confusion)</a:t>
            </a:r>
            <a:endParaRPr lang="en-US"/>
          </a:p>
          <a:p>
            <a:pPr>
              <a:buClr>
                <a:srgbClr val="00A6D6"/>
              </a:buClr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ShiftRows</a:t>
            </a:r>
            <a:r>
              <a:rPr lang="en-US">
                <a:ea typeface="+mn-lt"/>
                <a:cs typeface="+mn-lt"/>
              </a:rPr>
              <a:t> — Cyclic row shifts to spread data across columns</a:t>
            </a:r>
          </a:p>
          <a:p>
            <a:pPr>
              <a:buClr>
                <a:srgbClr val="00A6D6"/>
              </a:buClr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MixColumns</a:t>
            </a:r>
            <a:r>
              <a:rPr lang="en-US">
                <a:ea typeface="+mn-lt"/>
                <a:cs typeface="+mn-lt"/>
              </a:rPr>
              <a:t> — Column mixing over GF(2⁸) (diffusion)</a:t>
            </a:r>
            <a:endParaRPr lang="en-US"/>
          </a:p>
          <a:p>
            <a:pPr>
              <a:buClr>
                <a:srgbClr val="00A6D6"/>
              </a:buCl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AddRoundKey</a:t>
            </a:r>
            <a:r>
              <a:rPr lang="en-US">
                <a:ea typeface="+mn-lt"/>
                <a:cs typeface="+mn-lt"/>
              </a:rPr>
              <a:t> — XOR with current round key</a:t>
            </a:r>
          </a:p>
          <a:p>
            <a:pPr indent="0">
              <a:buNone/>
            </a:pPr>
            <a:r>
              <a:rPr lang="en-US" b="1">
                <a:ea typeface="+mn-lt"/>
                <a:cs typeface="+mn-lt"/>
              </a:rPr>
              <a:t>Final Round (Round 10)</a:t>
            </a:r>
            <a:r>
              <a:rPr lang="en-US">
                <a:ea typeface="+mn-lt"/>
                <a:cs typeface="+mn-lt"/>
              </a:rPr>
              <a:t> Same as middle rounds but </a:t>
            </a:r>
            <a:r>
              <a:rPr lang="en-US" b="1">
                <a:ea typeface="+mn-lt"/>
                <a:cs typeface="+mn-lt"/>
              </a:rPr>
              <a:t>no </a:t>
            </a:r>
            <a:r>
              <a:rPr lang="en-US" b="1" err="1">
                <a:ea typeface="+mn-lt"/>
                <a:cs typeface="+mn-lt"/>
              </a:rPr>
              <a:t>MixColumns</a:t>
            </a:r>
            <a:endParaRPr lang="en-US" err="1">
              <a:ea typeface="+mn-lt"/>
              <a:cs typeface="+mn-lt"/>
            </a:endParaRPr>
          </a:p>
          <a:p>
            <a:pPr lvl="2"/>
            <a:endParaRPr lang="en-US" b="1" kern="1200"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15C019-FAD9-23ED-3F7D-24C4B6C3D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455" y="880405"/>
            <a:ext cx="4433344" cy="487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582E4-985D-EDCC-A997-281BB59C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F4DD01-BDA7-02AD-F745-81027A63279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087A43E6-197A-4232-A775-7017A41F9758}" type="datetime1">
              <a:rPr lang="nl-NL" smtClean="0"/>
              <a:pPr>
                <a:spcAft>
                  <a:spcPts val="600"/>
                </a:spcAft>
              </a:pPr>
              <a:t>12-6-2026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774DE386-282B-CB09-A1B7-772C2B66A60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9E843DB9-9987-4157-AB9C-CEA8D7D910BB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6A6725BD-CFE5-7DB0-5442-8B5A7D45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 vert="horz" lIns="0" tIns="0" rIns="0" bIns="378000" rtlCol="0" anchor="ctr">
            <a:noAutofit/>
          </a:bodyPr>
          <a:lstStyle/>
          <a:p>
            <a:r>
              <a:rPr lang="en-US" sz="2500" b="0"/>
              <a:t>Advanced Encryption Standard (</a:t>
            </a:r>
            <a:r>
              <a:rPr lang="en-US" sz="2400"/>
              <a:t>AES)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69A723-76E1-E050-F698-54F0B3DC6E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70" r="4804" b="1"/>
          <a:stretch>
            <a:fillRect/>
          </a:stretch>
        </p:blipFill>
        <p:spPr>
          <a:xfrm>
            <a:off x="718666" y="1236363"/>
            <a:ext cx="5185805" cy="4352544"/>
          </a:xfrm>
          <a:prstGeom prst="rect">
            <a:avLst/>
          </a:prstGeom>
          <a:noFill/>
        </p:spPr>
      </p:pic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CBB743A-1012-DD85-D620-BFE9E8A87F3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85471" y="725661"/>
            <a:ext cx="5599230" cy="4352544"/>
          </a:xfrm>
        </p:spPr>
        <p:txBody>
          <a:bodyPr vert="horz" lIns="0" tIns="0" rIns="0" bIns="0" rtlCol="0" anchor="t">
            <a:noAutofit/>
          </a:bodyPr>
          <a:lstStyle/>
          <a:p>
            <a:pPr lvl="2"/>
            <a:r>
              <a:rPr lang="en-US" sz="1600" b="1" kern="1200"/>
              <a:t>Where is AES used?</a:t>
            </a:r>
            <a:endParaRPr lang="en-US" sz="1600" b="1" kern="1200">
              <a:cs typeface="Arial"/>
            </a:endParaRPr>
          </a:p>
          <a:p>
            <a:pPr marL="0">
              <a:buClr>
                <a:srgbClr val="00A6D6"/>
              </a:buClr>
              <a:buFont typeface="Arial"/>
              <a:buChar char="•"/>
            </a:pPr>
            <a:r>
              <a:rPr lang="en-US" sz="1600" b="1" kern="1200"/>
              <a:t>HTTPS/TLS</a:t>
            </a:r>
            <a:r>
              <a:rPr lang="en-US" sz="1600" kern="1200"/>
              <a:t> — Every secure website visit (banking, shopping) encrypts data using AES</a:t>
            </a:r>
            <a:endParaRPr lang="en-US" sz="1600" kern="1200">
              <a:cs typeface="Arial"/>
            </a:endParaRPr>
          </a:p>
          <a:p>
            <a:pPr marL="0">
              <a:buClr>
                <a:srgbClr val="00A6D6"/>
              </a:buClr>
              <a:buFont typeface="Arial"/>
              <a:buChar char="•"/>
            </a:pPr>
            <a:r>
              <a:rPr lang="en-US" sz="1600" b="1" kern="1200"/>
              <a:t>Wi-Fi (WPA2/WPA3)</a:t>
            </a:r>
            <a:r>
              <a:rPr lang="en-US" sz="1600" kern="1200"/>
              <a:t> — Your home/office network uses AES to protect wireless traffic</a:t>
            </a:r>
            <a:endParaRPr lang="en-US" sz="1600" kern="1200">
              <a:cs typeface="Arial"/>
            </a:endParaRPr>
          </a:p>
          <a:p>
            <a:pPr marL="0">
              <a:buClr>
                <a:srgbClr val="00A6D6"/>
              </a:buClr>
              <a:buFont typeface="Arial"/>
              <a:buChar char="•"/>
            </a:pPr>
            <a:r>
              <a:rPr lang="en-US" sz="1600" b="1" kern="1200"/>
              <a:t>File encryption</a:t>
            </a:r>
            <a:r>
              <a:rPr lang="en-US" sz="1600" kern="1200"/>
              <a:t> — BitLocker (Windows), </a:t>
            </a:r>
            <a:r>
              <a:rPr lang="en-US" sz="1600" kern="1200" err="1"/>
              <a:t>FileVault</a:t>
            </a:r>
            <a:r>
              <a:rPr lang="en-US" sz="1600" kern="1200"/>
              <a:t> (Mac) encrypt your hard drive with AES</a:t>
            </a:r>
            <a:endParaRPr lang="en-US" sz="1600" kern="1200">
              <a:cs typeface="Arial"/>
            </a:endParaRPr>
          </a:p>
          <a:p>
            <a:pPr marL="0">
              <a:buClr>
                <a:srgbClr val="00A6D6"/>
              </a:buClr>
              <a:buFont typeface="Arial"/>
              <a:buChar char="•"/>
            </a:pPr>
            <a:r>
              <a:rPr lang="en-US" sz="1600" b="1" kern="1200"/>
              <a:t>Cloud storage</a:t>
            </a:r>
            <a:r>
              <a:rPr lang="en-US" sz="1600" kern="1200"/>
              <a:t> — Google Drive, Dropbox encrypt stored files using AES-256</a:t>
            </a:r>
            <a:endParaRPr lang="en-US" sz="1600" kern="1200">
              <a:cs typeface="Arial"/>
            </a:endParaRPr>
          </a:p>
          <a:p>
            <a:pPr marL="0">
              <a:buFont typeface="Arial"/>
              <a:buChar char="•"/>
            </a:pPr>
            <a:r>
              <a:rPr lang="en-US" sz="1600" b="1" kern="1200"/>
              <a:t>VPNs</a:t>
            </a:r>
            <a:r>
              <a:rPr lang="en-US" sz="1600" kern="1200"/>
              <a:t> — All major VPN providers (NordVPN, OpenVPN) use AES as their core cipher</a:t>
            </a:r>
            <a:endParaRPr lang="en-US" sz="1600" kern="1200">
              <a:cs typeface="Arial"/>
            </a:endParaRPr>
          </a:p>
          <a:p>
            <a:pPr marL="0">
              <a:buFont typeface="Arial"/>
              <a:buChar char="•"/>
            </a:pPr>
            <a:r>
              <a:rPr lang="en-US" sz="1600" b="1" kern="1200"/>
              <a:t>USB drives &amp; SSDs</a:t>
            </a:r>
            <a:r>
              <a:rPr lang="en-US" sz="1600" kern="1200"/>
              <a:t> — Hardware-encrypted storage uses dedicated AES engines</a:t>
            </a:r>
            <a:endParaRPr lang="en-US" sz="1600" kern="1200">
              <a:cs typeface="Arial"/>
            </a:endParaRPr>
          </a:p>
          <a:p>
            <a:pPr marL="0">
              <a:buFont typeface="Arial"/>
              <a:buChar char="•"/>
            </a:pPr>
            <a:r>
              <a:rPr lang="en-US" sz="1600" b="1" kern="1200"/>
              <a:t>Smart cards &amp; passports</a:t>
            </a:r>
            <a:r>
              <a:rPr lang="en-US" sz="1600" kern="1200"/>
              <a:t> — AES protects biometric data in modern ID documents</a:t>
            </a:r>
            <a:endParaRPr lang="en-US" sz="1600" kern="1200">
              <a:cs typeface="Arial"/>
            </a:endParaRPr>
          </a:p>
          <a:p>
            <a:pPr marL="0">
              <a:buFont typeface="Arial"/>
              <a:buChar char="•"/>
            </a:pPr>
            <a:r>
              <a:rPr lang="en-US" sz="1600" b="1" kern="1200"/>
              <a:t>IoT devices</a:t>
            </a:r>
            <a:r>
              <a:rPr lang="en-US" sz="1600" kern="1200"/>
              <a:t> — Sensors and embedded systems use AES for secure communication</a:t>
            </a:r>
            <a:endParaRPr lang="en-US" sz="1600" kern="1200">
              <a:cs typeface="Arial"/>
            </a:endParaRPr>
          </a:p>
          <a:p>
            <a:pPr lvl="2" indent="0">
              <a:buFont typeface="Segoe UI Light" panose="020B0502040204020203" pitchFamily="34" charset="0"/>
              <a:buNone/>
            </a:pPr>
            <a:endParaRPr lang="en-US" sz="1600" kern="1200">
              <a:cs typeface="Arial"/>
            </a:endParaRPr>
          </a:p>
          <a:p>
            <a:pPr lvl="2"/>
            <a:endParaRPr lang="en-US" sz="1600" b="1" kern="12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920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89325-6AEB-5945-B404-59B9DE9F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044BE13-A124-0669-2A16-8805E5DBD70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087A43E6-197A-4232-A775-7017A41F9758}" type="datetime1">
              <a:rPr lang="nl-NL" smtClean="0"/>
              <a:pPr>
                <a:spcAft>
                  <a:spcPts val="600"/>
                </a:spcAft>
              </a:pPr>
              <a:t>12-6-2026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EDCDCCC8-0BB6-4F26-14DB-ECF8BC916F1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9E843DB9-9987-4157-AB9C-CEA8D7D910BB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6F96CDF0-DD02-2795-6623-23E24E2EA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 vert="horz" lIns="0" tIns="0" rIns="0" bIns="378000" rtlCol="0" anchor="ctr">
            <a:noAutofit/>
          </a:bodyPr>
          <a:lstStyle/>
          <a:p>
            <a:r>
              <a:rPr lang="en-US" sz="2400"/>
              <a:t>Baseline software implementation</a:t>
            </a:r>
            <a:endParaRPr lang="en-US" sz="2400" err="1">
              <a:cs typeface="Arial"/>
            </a:endParaRP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2C23BCCB-28FB-8B4D-59B9-3F6409D1374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6386" y="1049916"/>
            <a:ext cx="10746783" cy="4352544"/>
          </a:xfrm>
        </p:spPr>
        <p:txBody>
          <a:bodyPr vert="horz" lIns="0" tIns="0" rIns="0" bIns="0" rtlCol="0" anchor="t">
            <a:noAutofit/>
          </a:bodyPr>
          <a:lstStyle/>
          <a:p>
            <a:pPr>
              <a:buClr>
                <a:srgbClr val="00A6D6"/>
              </a:buClr>
              <a:buFont typeface="Arial,Sans-Serif" panose="020B0502040204020203" pitchFamily="34" charset="0"/>
              <a:buChar char="•"/>
            </a:pPr>
            <a:r>
              <a:rPr lang="en-US" b="1">
                <a:cs typeface="Arial"/>
              </a:rPr>
              <a:t>Pure C implementation </a:t>
            </a:r>
            <a:r>
              <a:rPr lang="en-US">
                <a:ea typeface="+mn-lt"/>
                <a:cs typeface="+mn-lt"/>
              </a:rPr>
              <a:t>— using standard loads, stores, XORs, shifts</a:t>
            </a:r>
            <a:endParaRPr lang="en-US">
              <a:cs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5E67D5-DD26-4969-F4B6-FA0F2C281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633304"/>
              </p:ext>
            </p:extLst>
          </p:nvPr>
        </p:nvGraphicFramePr>
        <p:xfrm>
          <a:off x="1215957" y="1856361"/>
          <a:ext cx="9754684" cy="314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7342">
                  <a:extLst>
                    <a:ext uri="{9D8B030D-6E8A-4147-A177-3AD203B41FA5}">
                      <a16:colId xmlns:a16="http://schemas.microsoft.com/office/drawing/2014/main" val="361612601"/>
                    </a:ext>
                  </a:extLst>
                </a:gridCol>
                <a:gridCol w="4877342">
                  <a:extLst>
                    <a:ext uri="{9D8B030D-6E8A-4147-A177-3AD203B41FA5}">
                      <a16:colId xmlns:a16="http://schemas.microsoft.com/office/drawing/2014/main" val="3793921264"/>
                    </a:ext>
                  </a:extLst>
                </a:gridCol>
              </a:tblGrid>
              <a:tr h="62943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768733"/>
                  </a:ext>
                </a:extLst>
              </a:tr>
              <a:tr h="6294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Cycle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61184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870347"/>
                  </a:ext>
                </a:extLst>
              </a:tr>
              <a:tr h="6294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LUTs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4644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240058"/>
                  </a:ext>
                </a:extLst>
              </a:tr>
              <a:tr h="6294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Registers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2163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777092"/>
                  </a:ext>
                </a:extLst>
              </a:tr>
              <a:tr h="6294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Muxes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03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241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452F-8E6F-FCA4-D687-539D84D7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34A40AE-F790-4ECD-9523-F6B0F98046C5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087A43E6-197A-4232-A775-7017A41F9758}" type="datetime1">
              <a:rPr lang="nl-NL" smtClean="0"/>
              <a:pPr>
                <a:spcAft>
                  <a:spcPts val="600"/>
                </a:spcAft>
              </a:pPr>
              <a:t>12-6-2026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8937A121-5798-628E-FD75-B4D05FE0DCF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9E843DB9-9987-4157-AB9C-CEA8D7D910BB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DAA23D81-AE47-0615-1981-F6AA529F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 vert="horz" lIns="0" tIns="0" rIns="0" bIns="378000" rtlCol="0" anchor="ctr">
            <a:noAutofit/>
          </a:bodyPr>
          <a:lstStyle/>
          <a:p>
            <a:r>
              <a:rPr lang="en-GB" sz="2400"/>
              <a:t>Baseline Bottlenecks </a:t>
            </a:r>
            <a:endParaRPr lang="en-US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DE224D77-92D0-28D6-8B11-36F1FB1C0A3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6386" y="1049916"/>
            <a:ext cx="10746783" cy="4782182"/>
          </a:xfrm>
        </p:spPr>
        <p:txBody>
          <a:bodyPr vert="horz" lIns="0" tIns="0" rIns="0" bIns="0" rtlCol="0" anchor="t">
            <a:noAutofit/>
          </a:bodyPr>
          <a:lstStyle/>
          <a:p>
            <a:pPr lvl="2"/>
            <a:endParaRPr lang="en-US"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B581EA-57A7-25C8-2189-9494BBA7E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5" y="2166938"/>
            <a:ext cx="695325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36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F8CDF-6224-FE68-4246-E7E904902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F81C52C-51A9-DC55-B6B0-2FE1CF104C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087A43E6-197A-4232-A775-7017A41F9758}" type="datetime1">
              <a:rPr lang="nl-NL" smtClean="0"/>
              <a:pPr>
                <a:spcAft>
                  <a:spcPts val="600"/>
                </a:spcAft>
              </a:pPr>
              <a:t>12-6-2026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F2A7D205-551E-01C8-11DC-DF908AF3164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9E843DB9-9987-4157-AB9C-CEA8D7D910BB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A954E43D-4AE0-87FC-B2D4-B31DF049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 vert="horz" lIns="0" tIns="0" rIns="0" bIns="378000" rtlCol="0" anchor="ctr">
            <a:noAutofit/>
          </a:bodyPr>
          <a:lstStyle/>
          <a:p>
            <a:r>
              <a:rPr lang="en-GB" sz="2400"/>
              <a:t>How does hardware help?</a:t>
            </a:r>
            <a:endParaRPr lang="en-US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8F5339F-BEB2-3DC6-BA07-5A418B38D1D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6386" y="1049916"/>
            <a:ext cx="10746783" cy="4782182"/>
          </a:xfrm>
        </p:spPr>
        <p:txBody>
          <a:bodyPr vert="horz" lIns="0" tIns="0" rIns="0" bIns="0" rtlCol="0" anchor="t">
            <a:noAutofit/>
          </a:bodyPr>
          <a:lstStyle/>
          <a:p>
            <a:pPr lvl="2"/>
            <a:endParaRPr lang="en-US" b="1">
              <a:ea typeface="+mn-lt"/>
              <a:cs typeface="+mn-lt"/>
            </a:endParaRPr>
          </a:p>
          <a:p>
            <a:pPr marL="285750" lvl="2" indent="-285750">
              <a:buClr>
                <a:srgbClr val="00A6D6"/>
              </a:buClr>
              <a:buSzPct val="120000"/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Eliminates all the </a:t>
            </a:r>
            <a:r>
              <a:rPr lang="en-US" err="1">
                <a:latin typeface="Consolas"/>
                <a:cs typeface="Arial"/>
              </a:rPr>
              <a:t>gf_mult</a:t>
            </a:r>
            <a:r>
              <a:rPr lang="en-US">
                <a:ea typeface="+mn-lt"/>
                <a:cs typeface="+mn-lt"/>
              </a:rPr>
              <a:t> inlining (the 186-instruction </a:t>
            </a:r>
            <a:r>
              <a:rPr lang="en-US" err="1">
                <a:latin typeface="Consolas"/>
                <a:cs typeface="Arial"/>
              </a:rPr>
              <a:t>mix_columns</a:t>
            </a:r>
            <a:r>
              <a:rPr lang="en-US">
                <a:ea typeface="+mn-lt"/>
                <a:cs typeface="+mn-lt"/>
              </a:rPr>
              <a:t> becomes a handful of </a:t>
            </a:r>
            <a:r>
              <a:rPr lang="en-US">
                <a:latin typeface="Consolas"/>
                <a:cs typeface="Arial"/>
              </a:rPr>
              <a:t>aes32esmi</a:t>
            </a:r>
            <a:r>
              <a:rPr lang="en-US">
                <a:ea typeface="+mn-lt"/>
                <a:cs typeface="+mn-lt"/>
              </a:rPr>
              <a:t> calls)</a:t>
            </a:r>
            <a:endParaRPr lang="en-US"/>
          </a:p>
          <a:p>
            <a:pPr marL="285750" lvl="2" indent="-285750">
              <a:buClr>
                <a:srgbClr val="00A6D6"/>
              </a:buClr>
              <a:buSzPct val="120000"/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Operates entirely on registers, with no BRAM loads for the S-box or </a:t>
            </a:r>
            <a:r>
              <a:rPr lang="en-US" err="1">
                <a:ea typeface="+mn-lt"/>
                <a:cs typeface="+mn-lt"/>
              </a:rPr>
              <a:t>MixColumn</a:t>
            </a:r>
            <a:endParaRPr lang="en-US" err="1"/>
          </a:p>
          <a:p>
            <a:pPr marL="285750" lvl="2" indent="-285750">
              <a:buClr>
                <a:srgbClr val="00A6D6"/>
              </a:buClr>
              <a:buSzPct val="120000"/>
              <a:buFont typeface="Arial"/>
              <a:buChar char="•"/>
            </a:pPr>
            <a:r>
              <a:rPr lang="en-US">
                <a:cs typeface="Arial"/>
              </a:rPr>
              <a:t>aes32esmi combines </a:t>
            </a:r>
            <a:r>
              <a:rPr lang="en-US" err="1">
                <a:cs typeface="Arial"/>
              </a:rPr>
              <a:t>SubBytes</a:t>
            </a:r>
            <a:r>
              <a:rPr lang="en-US">
                <a:cs typeface="Arial"/>
              </a:rPr>
              <a:t> + </a:t>
            </a:r>
            <a:r>
              <a:rPr lang="en-US" err="1">
                <a:cs typeface="Arial"/>
              </a:rPr>
              <a:t>ShiftRows</a:t>
            </a:r>
            <a:r>
              <a:rPr lang="en-US">
                <a:cs typeface="Arial"/>
              </a:rPr>
              <a:t> + </a:t>
            </a:r>
            <a:r>
              <a:rPr lang="en-US" err="1">
                <a:cs typeface="Arial"/>
              </a:rPr>
              <a:t>MixColumns</a:t>
            </a:r>
            <a:r>
              <a:rPr lang="en-US">
                <a:cs typeface="Arial"/>
              </a:rPr>
              <a:t> + AddRoundKey into </a:t>
            </a:r>
            <a:r>
              <a:rPr lang="en-US" b="1">
                <a:cs typeface="Arial"/>
              </a:rPr>
              <a:t>a single hardware instruction</a:t>
            </a:r>
            <a:r>
              <a:rPr lang="en-US">
                <a:cs typeface="Arial"/>
              </a:rPr>
              <a:t> that completes in </a:t>
            </a:r>
            <a:r>
              <a:rPr lang="en-US" b="1">
                <a:cs typeface="Arial"/>
              </a:rPr>
              <a:t>1 cycle</a:t>
            </a:r>
            <a:endParaRPr lang="en-US">
              <a:cs typeface="Arial"/>
            </a:endParaRPr>
          </a:p>
          <a:p>
            <a:pPr lvl="2"/>
            <a:endParaRPr lang="en-US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916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7D681-E3B9-0610-4FD2-4EE4E91B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895D950-175E-0D6E-EB98-5349AD291C9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087A43E6-197A-4232-A775-7017A41F9758}" type="datetime1">
              <a:rPr lang="nl-NL" smtClean="0"/>
              <a:pPr>
                <a:spcAft>
                  <a:spcPts val="600"/>
                </a:spcAft>
              </a:pPr>
              <a:t>12-6-2026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1F628A81-7F81-7698-5297-FD04547970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9E843DB9-9987-4157-AB9C-CEA8D7D910BB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3ECFF35F-7E2A-65C5-0529-E7AB06734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 vert="horz" lIns="0" tIns="0" rIns="0" bIns="378000" rtlCol="0" anchor="ctr">
            <a:noAutofit/>
          </a:bodyPr>
          <a:lstStyle/>
          <a:p>
            <a:r>
              <a:rPr lang="en-GB" sz="2400"/>
              <a:t>Performance after implementation of AES hardware support</a:t>
            </a:r>
            <a:endParaRPr lang="en-US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4D8E04F-B05E-1A30-4554-2F96FA37F4C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6386" y="1049916"/>
            <a:ext cx="10746783" cy="4782182"/>
          </a:xfrm>
        </p:spPr>
        <p:txBody>
          <a:bodyPr vert="horz" lIns="0" tIns="0" rIns="0" bIns="0" rtlCol="0" anchor="t">
            <a:noAutofit/>
          </a:bodyPr>
          <a:lstStyle/>
          <a:p>
            <a:pPr marL="285750" lvl="2" indent="-285750">
              <a:buClr>
                <a:srgbClr val="00A6D6"/>
              </a:buClr>
              <a:buSzPct val="120000"/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lvl="2" indent="-285750">
              <a:buClr>
                <a:srgbClr val="00A6D6"/>
              </a:buClr>
              <a:buSzPct val="120000"/>
              <a:buFont typeface="Arial"/>
              <a:buChar char="•"/>
            </a:pPr>
            <a:endParaRPr lang="en-US"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9CA29C-75F4-1571-63BD-9B26A5909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110" y="2643188"/>
            <a:ext cx="49625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4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C6EA4-CD4D-B39A-81E6-F82BD84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D760BC8-78EA-168B-CF54-0989F724923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087A43E6-197A-4232-A775-7017A41F9758}" type="datetime1">
              <a:rPr lang="nl-NL" smtClean="0"/>
              <a:pPr>
                <a:spcAft>
                  <a:spcPts val="600"/>
                </a:spcAft>
              </a:pPr>
              <a:t>12-6-2026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0D4B5DC5-9BB6-521C-CBF2-B1563E585F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9E843DB9-9987-4157-AB9C-CEA8D7D910BB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AA0B641-8736-F2BE-3B3F-B0BE4AD68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 vert="horz" lIns="0" tIns="0" rIns="0" bIns="378000" rtlCol="0" anchor="ctr">
            <a:noAutofit/>
          </a:bodyPr>
          <a:lstStyle/>
          <a:p>
            <a:r>
              <a:rPr lang="en-GB" sz="2400"/>
              <a:t>Vulnerabilities to side channel attacks</a:t>
            </a:r>
            <a:endParaRPr lang="en-US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5844D78-FC62-5246-AF0C-00D854029BE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6386" y="1049916"/>
            <a:ext cx="10746783" cy="4782182"/>
          </a:xfrm>
        </p:spPr>
        <p:txBody>
          <a:bodyPr vert="horz" lIns="0" tIns="0" rIns="0" bIns="0" rtlCol="0" anchor="t">
            <a:noAutofit/>
          </a:bodyPr>
          <a:lstStyle/>
          <a:p>
            <a:pPr marL="285750" lvl="2" indent="-285750">
              <a:buClr>
                <a:srgbClr val="00A6D6"/>
              </a:buClr>
              <a:buSzPct val="120000"/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lvl="2" indent="-285750">
              <a:buClr>
                <a:srgbClr val="00A6D6"/>
              </a:buClr>
              <a:buSzPct val="120000"/>
              <a:buFont typeface="Arial"/>
              <a:buChar char="•"/>
            </a:pPr>
            <a:endParaRPr lang="en-US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0343A-CE6B-BF51-FD21-28BBE7A64297}"/>
              </a:ext>
            </a:extLst>
          </p:cNvPr>
          <p:cNvSpPr txBox="1"/>
          <p:nvPr/>
        </p:nvSpPr>
        <p:spPr>
          <a:xfrm>
            <a:off x="717698" y="1045535"/>
            <a:ext cx="10756603" cy="42062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  <a:buFont typeface=""/>
              <a:buNone/>
            </a:pPr>
            <a:r>
              <a:rPr sz="2000" b="0">
                <a:solidFill>
                  <a:srgbClr val="202020"/>
                </a:solidFill>
              </a:rPr>
              <a:t>The Zkne S-box and MixColumns switch a data-dependent number of bits each cycle, so the instantaneous power draw leaks the byte being processed.</a:t>
            </a:r>
          </a:p>
          <a:p>
            <a:pPr>
              <a:spcAft>
                <a:spcPts val="1000"/>
              </a:spcAft>
              <a:buNone/>
            </a:pPr>
            <a:r>
              <a:rPr sz="2000" b="0">
                <a:solidFill>
                  <a:srgbClr val="202020"/>
                </a:solidFill>
              </a:rPr>
              <a:t>Correlation Power Analysis exploits this: correlating measured power against HW(SBOX[pt XOR guess]) makes the correct key guess separate from the other 255. On our unprotected core a key byte falls in about 100 traces.</a:t>
            </a:r>
          </a:p>
          <a:p>
            <a:pPr>
              <a:spcAft>
                <a:spcPts val="1000"/>
              </a:spcAft>
              <a:buNone/>
            </a:pPr>
            <a:r>
              <a:rPr sz="2000" b="0">
                <a:solidFill>
                  <a:srgbClr val="202020"/>
                </a:solidFill>
              </a:rPr>
              <a:t>Countermeasure: Domain-Oriented Masking (DOM). Every secret is split into two random shares that recombine only inside registered DOM-AND gates, so no single wire (and no glitch) correlates with the real value.</a:t>
            </a:r>
          </a:p>
          <a:p>
            <a:pPr>
              <a:spcAft>
                <a:spcPts val="1000"/>
              </a:spcAft>
              <a:buNone/>
            </a:pPr>
            <a:r>
              <a:rPr sz="1800" b="0">
                <a:solidFill>
                  <a:srgbClr val="555555"/>
                </a:solidFill>
              </a:rPr>
              <a:t>Design follows the TU Delft secure-Zkne paper of Kassimi, Aljuffri, Hamdioui and Taouil (2026).</a:t>
            </a:r>
          </a:p>
        </p:txBody>
      </p:sp>
    </p:spTree>
    <p:extLst>
      <p:ext uri="{BB962C8B-B14F-4D97-AF65-F5344CB8AC3E}">
        <p14:creationId xmlns:p14="http://schemas.microsoft.com/office/powerpoint/2010/main" val="339332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D0762-E121-9D49-A35A-6B9DD173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A1EE14-3EC2-267B-ACDC-A8A831FE8BC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1D2AC-4136-BB32-7E83-A68A2C4FC18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D68355-E8E7-4727-AB45-EA1626F4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43750" cy="589222"/>
          </a:xfrm>
        </p:spPr>
        <p:txBody>
          <a:bodyPr/>
          <a:lstStyle/>
          <a:p>
            <a:r>
              <a:rPr lang="en-US" sz="3400">
                <a:cs typeface="Arial"/>
              </a:rPr>
              <a:t>Compiler Optimizations: Custom LoopUnroll Pass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C5DDD-3CCA-1DBE-E9B0-1722187C9F2C}"/>
              </a:ext>
            </a:extLst>
          </p:cNvPr>
          <p:cNvSpPr txBox="1"/>
          <p:nvPr/>
        </p:nvSpPr>
        <p:spPr>
          <a:xfrm>
            <a:off x="892038" y="1716113"/>
            <a:ext cx="4398044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0B0F0"/>
                </a:solidFill>
                <a:ea typeface="+mn-lt"/>
                <a:cs typeface="+mn-lt"/>
              </a:rPr>
              <a:t>What was done?</a:t>
            </a:r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Wrote our own LLVM compiler pass to fully unroll the 9-round AES loop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Calls LLVM's unroll routine directly instead of using a built-in flag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Flattens all 9 rounds into straight line code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Detects the loop by spotting the AES instructions inside it, so it survives inlining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77666BB-2D60-3566-D63A-2E57BBDBE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75753" y="1809176"/>
            <a:ext cx="609600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53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BF91A-63FE-F737-3B4F-160A0B20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3AE53-D361-A0DE-7FA9-7AB54F512FA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3C186-B815-0635-34DA-98F2FEC5041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A7C98-29E3-D888-9A26-B130980C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43750" cy="589222"/>
          </a:xfrm>
        </p:spPr>
        <p:txBody>
          <a:bodyPr/>
          <a:lstStyle/>
          <a:p>
            <a:r>
              <a:rPr lang="en-US" sz="3400">
                <a:cs typeface="Arial"/>
              </a:rPr>
              <a:t>Compiler Optimizations: Custom </a:t>
            </a:r>
            <a:r>
              <a:rPr lang="en-US" sz="3400" err="1">
                <a:cs typeface="Arial"/>
              </a:rPr>
              <a:t>LoopUnroll</a:t>
            </a:r>
            <a:r>
              <a:rPr lang="en-US" sz="3400">
                <a:cs typeface="Arial"/>
              </a:rPr>
              <a:t> Pass</a:t>
            </a:r>
            <a:endParaRPr lang="en-US" sz="3400" b="0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F65A3-699A-D502-BF4B-9B11BA7DC494}"/>
              </a:ext>
            </a:extLst>
          </p:cNvPr>
          <p:cNvSpPr txBox="1"/>
          <p:nvPr/>
        </p:nvSpPr>
        <p:spPr>
          <a:xfrm>
            <a:off x="892038" y="1721332"/>
            <a:ext cx="10097386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0B0F0"/>
                </a:solidFill>
                <a:ea typeface="+mn-lt"/>
                <a:cs typeface="+mn-lt"/>
              </a:rPr>
              <a:t>Why we did it?</a:t>
            </a:r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 looped version wastes cycles on loop overhead every round (counter, branch, condition check, key pointer reload).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Built in unrolling is cost model driven and often refuses to unroll, especially when optimizing for size.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Wanted full control to force unrolling on exactly the target loop.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Goal was to build the optimization myself, not just flip a compiler switch.</a:t>
            </a:r>
          </a:p>
        </p:txBody>
      </p:sp>
    </p:spTree>
    <p:extLst>
      <p:ext uri="{BB962C8B-B14F-4D97-AF65-F5344CB8AC3E}">
        <p14:creationId xmlns:p14="http://schemas.microsoft.com/office/powerpoint/2010/main" val="347033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3CBAD-3F03-2DA9-C19B-D3BF65031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018806-295D-36C6-5DA3-E9AA78B48CB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D9427E-C611-74B6-71A3-BFF2A13F6DD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30858C-3E06-88C8-DDF0-7037881CB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43750" cy="589222"/>
          </a:xfrm>
        </p:spPr>
        <p:txBody>
          <a:bodyPr/>
          <a:lstStyle/>
          <a:p>
            <a:r>
              <a:rPr lang="en-US" sz="3400">
                <a:cs typeface="Arial"/>
              </a:rPr>
              <a:t>Compiler Optimizations: Custom </a:t>
            </a:r>
            <a:r>
              <a:rPr lang="en-US" sz="3400" err="1">
                <a:cs typeface="Arial"/>
              </a:rPr>
              <a:t>LoopUnroll</a:t>
            </a:r>
            <a:r>
              <a:rPr lang="en-US" sz="3400">
                <a:cs typeface="Arial"/>
              </a:rPr>
              <a:t> Pass</a:t>
            </a:r>
            <a:endParaRPr lang="en-US" sz="3400" b="0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D95FE-3F8F-6A14-95D1-777E8021CBD6}"/>
              </a:ext>
            </a:extLst>
          </p:cNvPr>
          <p:cNvSpPr txBox="1"/>
          <p:nvPr/>
        </p:nvSpPr>
        <p:spPr>
          <a:xfrm>
            <a:off x="892038" y="1721332"/>
            <a:ext cx="10097386" cy="44781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0B0F0"/>
                </a:solidFill>
                <a:ea typeface="+mn-lt"/>
                <a:cs typeface="+mn-lt"/>
              </a:rPr>
              <a:t>Results</a:t>
            </a:r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Brought the software from 6,260 to 4,800 cycles, about 23 percent faster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Same correct ciphertext, guarantees the loop is always fully unrolled</a:t>
            </a: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D8EDB1-490C-0905-943B-ABB091E84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167394"/>
              </p:ext>
            </p:extLst>
          </p:nvPr>
        </p:nvGraphicFramePr>
        <p:xfrm>
          <a:off x="2006461" y="3117979"/>
          <a:ext cx="816864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2121626815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4207703731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594940385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125682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Unroll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Vs.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453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GCC -</a:t>
                      </a:r>
                      <a:r>
                        <a:rPr lang="en-US" sz="1800" b="0" i="0" u="none" strike="noStrike" noProof="0" err="1">
                          <a:latin typeface="Arial"/>
                          <a:cs typeface="Arial"/>
                        </a:rPr>
                        <a:t>Os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 (looped)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89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GCC -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Os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+ #pragma unroll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Source pragma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08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GCC -O2 + -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funroll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-loops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Build-in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5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Clang –</a:t>
                      </a:r>
                      <a:r>
                        <a:rPr lang="en-US" err="1"/>
                        <a:t>Os</a:t>
                      </a:r>
                      <a:r>
                        <a:rPr lang="en-US"/>
                        <a:t> + Custom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AESUnroll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-23%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743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72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5FC1-619B-4211-8158-676E8EB52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578A21-6972-C36B-0802-95BB3E9B715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347FA0-40AB-1269-3E95-877AC53147E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774B68-B294-7B66-425E-FB35BD2A6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43750" cy="589222"/>
          </a:xfrm>
        </p:spPr>
        <p:txBody>
          <a:bodyPr/>
          <a:lstStyle/>
          <a:p>
            <a:r>
              <a:rPr lang="en-US" sz="3400"/>
              <a:t>RTL Optimization: Parallel DOM S-box</a:t>
            </a:r>
            <a:endParaRPr lang="en-US" sz="340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69806-6C35-B888-394D-1AF8F14DD7CE}"/>
              </a:ext>
            </a:extLst>
          </p:cNvPr>
          <p:cNvSpPr txBox="1"/>
          <p:nvPr/>
        </p:nvSpPr>
        <p:spPr>
          <a:xfrm>
            <a:off x="892038" y="1716113"/>
            <a:ext cx="5207017" cy="400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0B0F0"/>
                </a:solidFill>
                <a:ea typeface="+mn-lt"/>
                <a:cs typeface="+mn-lt"/>
              </a:rPr>
              <a:t>What was done?</a:t>
            </a:r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Added a custom instruction that runs two DOM protected AES S-boxes in parallel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Each instruction now processes two-byte lanes of a column instead of one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Built a new execution unit in the core (two S-boxes side by side) plus decoder and pipeline changes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Software XORs the two halves together to finish each column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Kept the original single S-box path intact as a fallback</a:t>
            </a:r>
            <a:endParaRPr lang="en-US">
              <a:cs typeface="Arial" panose="020B0604020202020204"/>
            </a:endParaRPr>
          </a:p>
        </p:txBody>
      </p:sp>
      <p:pic>
        <p:nvPicPr>
          <p:cNvPr id="7" name="Picture 6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17769AA8-2EBC-FCA3-FC1F-DE567D76D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645" y="2629654"/>
            <a:ext cx="5180503" cy="247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7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2D71E-6E8B-5C40-BEA0-934240C7C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47CDA-9EBA-00FE-DDD3-24485799214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E7671F-A0C4-1104-E880-0B47A1D8F3D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E2A6BC-896B-CB48-2CE9-07FFF259C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43750" cy="589222"/>
          </a:xfrm>
        </p:spPr>
        <p:txBody>
          <a:bodyPr/>
          <a:lstStyle/>
          <a:p>
            <a:r>
              <a:rPr lang="en-US" sz="3400"/>
              <a:t>RTL Optimization: Parallel DOM S-box</a:t>
            </a:r>
            <a:endParaRPr lang="en-US" sz="340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548BA-F58C-F773-990A-BC61CC9EB082}"/>
              </a:ext>
            </a:extLst>
          </p:cNvPr>
          <p:cNvSpPr txBox="1"/>
          <p:nvPr/>
        </p:nvSpPr>
        <p:spPr>
          <a:xfrm>
            <a:off x="892038" y="1721332"/>
            <a:ext cx="10097386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0B0F0"/>
                </a:solidFill>
                <a:ea typeface="+mn-lt"/>
                <a:cs typeface="+mn-lt"/>
              </a:rPr>
              <a:t>Why we did it?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 DOM S-box is the real bottleneck: every byte pays a fixed 5 cycle latency and stalls the whole pipeline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 original design did the S-box one byte at a time, so the 16 bytes per round were fully serial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Running two S-boxes at once halves the number of instructions per round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 masking (side channel protection) had to stay fully intact</a:t>
            </a:r>
            <a:endParaRPr lang="en-US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225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5FAD2-02E5-566B-1150-E9F49FCB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701F3-F018-67BD-80B5-DEE132435B9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ABB54F-2985-0294-E7A4-D45BE71D2AD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DBF8C7-4A89-0455-0FF6-EFF71800B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43750" cy="589222"/>
          </a:xfrm>
        </p:spPr>
        <p:txBody>
          <a:bodyPr/>
          <a:lstStyle/>
          <a:p>
            <a:r>
              <a:rPr lang="en-US" sz="3400"/>
              <a:t>RTL Optimization: Parallel DOM S-box</a:t>
            </a:r>
            <a:endParaRPr lang="en-US" sz="340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8F870-DA03-773F-5C7C-3EC09A77FC49}"/>
              </a:ext>
            </a:extLst>
          </p:cNvPr>
          <p:cNvSpPr txBox="1"/>
          <p:nvPr/>
        </p:nvSpPr>
        <p:spPr>
          <a:xfrm>
            <a:off x="892038" y="1721332"/>
            <a:ext cx="100973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0B0F0"/>
                </a:solidFill>
                <a:ea typeface="+mn-lt"/>
                <a:cs typeface="+mn-lt"/>
              </a:rPr>
              <a:t>Results</a:t>
            </a:r>
          </a:p>
          <a:p>
            <a:endParaRPr lang="en-US" sz="2000" b="1">
              <a:solidFill>
                <a:srgbClr val="00B0F0"/>
              </a:solidFill>
              <a:ea typeface="+mn-lt"/>
              <a:cs typeface="+mn-lt"/>
            </a:endParaRPr>
          </a:p>
          <a:p>
            <a:endParaRPr lang="en-US" sz="2000" b="1">
              <a:solidFill>
                <a:srgbClr val="00B0F0"/>
              </a:solidFill>
              <a:ea typeface="+mn-lt"/>
              <a:cs typeface="+mn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079FD2-B6F7-DAE4-4101-70DBF0B3F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409433"/>
              </p:ext>
            </p:extLst>
          </p:nvPr>
        </p:nvGraphicFramePr>
        <p:xfrm>
          <a:off x="1855105" y="2183746"/>
          <a:ext cx="81686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3809554223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060622130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3060858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Vs. Original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57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43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Custom Unroll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23% 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73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Parallel DOM S-box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34% 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76812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74CF8C-4787-F073-8F08-7CDEDB753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374251"/>
              </p:ext>
            </p:extLst>
          </p:nvPr>
        </p:nvGraphicFramePr>
        <p:xfrm>
          <a:off x="1873163" y="3809739"/>
          <a:ext cx="8153400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4107572227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4026469846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Resource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4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Count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4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440573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 Count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4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4121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4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21656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LUTs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11987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96156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Registers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10412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3018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Muxes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15848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DSP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8798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02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10744200" cy="640080"/>
          </a:xfrm>
        </p:spPr>
        <p:txBody>
          <a:bodyPr/>
          <a:lstStyle/>
          <a:p>
            <a:r>
              <a:rPr sz="2800" b="1"/>
              <a:t>Validation Framework: Simulation-Based Power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6916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buNone/>
            </a:pPr>
            <a:r>
              <a:rPr sz="2000" b="1">
                <a:solidFill>
                  <a:srgbClr val="00B0F0"/>
                </a:solidFill>
              </a:rPr>
              <a:t>How we proved the masking works, in simulation and on hardware</a:t>
            </a:r>
          </a:p>
          <a:p>
            <a:pPr>
              <a:lnSpc>
                <a:spcPct val="105000"/>
              </a:lnSpc>
              <a:spcAft>
                <a:spcPts val="1200"/>
              </a:spcAft>
              <a:buNone/>
            </a:pPr>
            <a:r>
              <a:rPr sz="1900" b="0">
                <a:solidFill>
                  <a:srgbClr val="202020"/>
                </a:solidFill>
              </a:rPr>
              <a:t>Power proxy: a SystemVerilog testbench drives plaintexts through the hardware S-box in Vivado xsim and logs the Hamming weight of the captured result register per trace.</a:t>
            </a:r>
          </a:p>
          <a:p>
            <a:pPr>
              <a:lnSpc>
                <a:spcPct val="105000"/>
              </a:lnSpc>
              <a:spcAft>
                <a:spcPts val="1200"/>
              </a:spcAft>
              <a:buNone/>
            </a:pPr>
            <a:r>
              <a:rPr sz="1900" b="0">
                <a:solidFill>
                  <a:srgbClr val="202020"/>
                </a:solidFill>
              </a:rPr>
              <a:t>One harness, two S-boxes: the same rig runs against the unprotected and the DOM-masked S-box, producing identical CSVs. The only variable is the design, so the before/after is clean.</a:t>
            </a:r>
          </a:p>
          <a:p>
            <a:pPr>
              <a:lnSpc>
                <a:spcPct val="105000"/>
              </a:lnSpc>
              <a:spcAft>
                <a:spcPts val="1200"/>
              </a:spcAft>
              <a:buNone/>
            </a:pPr>
            <a:r>
              <a:rPr sz="1900" b="1">
                <a:solidFill>
                  <a:srgbClr val="202020"/>
                </a:solidFill>
              </a:rPr>
              <a:t>Two standard attacks, scored in Python (numpy/scipy):</a:t>
            </a:r>
          </a:p>
          <a:p>
            <a:pPr lvl="1">
              <a:lnSpc>
                <a:spcPct val="105000"/>
              </a:lnSpc>
              <a:spcAft>
                <a:spcPts val="1200"/>
              </a:spcAft>
              <a:buNone/>
            </a:pPr>
            <a:r>
              <a:rPr sz="1800" b="0">
                <a:solidFill>
                  <a:srgbClr val="202020"/>
                </a:solidFill>
              </a:rPr>
              <a:t>CPA: recover the key byte by correlating power with HW(SBOX[pt XOR guess]) over all 256 guesses, 20 000 traces.</a:t>
            </a:r>
          </a:p>
          <a:p>
            <a:pPr lvl="1">
              <a:lnSpc>
                <a:spcPct val="105000"/>
              </a:lnSpc>
              <a:spcAft>
                <a:spcPts val="1200"/>
              </a:spcAft>
              <a:buNone/>
            </a:pPr>
            <a:r>
              <a:rPr sz="1800" b="0">
                <a:solidFill>
                  <a:srgbClr val="202020"/>
                </a:solidFill>
              </a:rPr>
              <a:t>TVLA: Welch fixed-vs-random t-test on 40 000 traces; |t| &gt; 4.5 means first-order leakage (ISO/IEC 17825).</a:t>
            </a:r>
          </a:p>
          <a:p>
            <a:pPr>
              <a:lnSpc>
                <a:spcPct val="105000"/>
              </a:lnSpc>
              <a:spcAft>
                <a:spcPts val="1200"/>
              </a:spcAft>
              <a:buNone/>
            </a:pPr>
            <a:r>
              <a:rPr sz="1800" b="0">
                <a:solidFill>
                  <a:srgbClr val="555555"/>
                </a:solidFill>
              </a:rPr>
              <a:t>Why simulation first: it isolates the register's switching with no analog noise, giving fast feedback in the RTL loop, alongside Rishi's CW305 hardware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22376"/>
            <a:ext cx="10744200" cy="822960"/>
          </a:xfrm>
        </p:spPr>
        <p:txBody>
          <a:bodyPr/>
          <a:lstStyle/>
          <a:p>
            <a:r>
              <a:rPr sz="3400" b="1"/>
              <a:t>Validation Results: DOM Defeats the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B0F0"/>
                </a:solidFill>
              </a:rPr>
              <a:t>Same rig, same noise (σ = 2.0). The only change is the S-box, and the leakage disappears.</a:t>
            </a:r>
          </a:p>
        </p:txBody>
      </p:sp>
      <p:pic>
        <p:nvPicPr>
          <p:cNvPr id="4" name="Picture 3" descr="tvla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65960"/>
            <a:ext cx="5715000" cy="3089189"/>
          </a:xfrm>
          <a:prstGeom prst="rect">
            <a:avLst/>
          </a:prstGeom>
        </p:spPr>
      </p:pic>
      <p:pic>
        <p:nvPicPr>
          <p:cNvPr id="5" name="Picture 4" descr="cpa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40280"/>
            <a:ext cx="5532120" cy="233613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507492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3108960"/>
                <a:gridCol w="3108960"/>
              </a:tblGrid>
              <a:tr h="2743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Unprotected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DOM-masked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500" b="1"/>
                        <a:t>CPA true-key 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/>
                        <a:t>1 / 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7A3B"/>
                          </a:solidFill>
                        </a:rPr>
                        <a:t>35 / 256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500" b="1"/>
                        <a:t>CPA top |r|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/>
                        <a:t>0.58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7A3B"/>
                          </a:solidFill>
                        </a:rPr>
                        <a:t>0.022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500" b="1"/>
                        <a:t>TVLA max |t|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/>
                        <a:t>44.0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7A3B"/>
                          </a:solidFill>
                        </a:rPr>
                        <a:t>1.4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500" b="1"/>
                        <a:t>Crosses |t| = 4.5?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/>
                        <a:t>Yes (9.8x)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7A3B"/>
                          </a:solidFill>
                        </a:rPr>
                        <a:t>No (0.3x)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E5C3-58B4-9348-9C0F-ECF95A0265E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275C5F-2CBD-DA27-B0C6-1D1D0B40974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260B0D-5B6B-BA13-ECC3-613864F9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43750" cy="589222"/>
          </a:xfrm>
        </p:spPr>
        <p:txBody>
          <a:bodyPr/>
          <a:lstStyle/>
          <a:p>
            <a:r>
              <a:rPr lang="en-US">
                <a:cs typeface="Arial"/>
              </a:rPr>
              <a:t>Future Work: The Super Instruction </a:t>
            </a:r>
            <a:br>
              <a:rPr lang="en-US">
                <a:cs typeface="Arial"/>
              </a:rPr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7CCDB-9939-2460-EF59-1689425A63F0}"/>
              </a:ext>
            </a:extLst>
          </p:cNvPr>
          <p:cNvSpPr txBox="1"/>
          <p:nvPr/>
        </p:nvSpPr>
        <p:spPr>
          <a:xfrm>
            <a:off x="883177" y="1623867"/>
            <a:ext cx="5436782" cy="39395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/>
              <a:t>The observation:</a:t>
            </a:r>
            <a:r>
              <a:rPr lang="en-US" sz="2000" b="1"/>
              <a:t> </a:t>
            </a:r>
            <a:endParaRPr lang="en-US" sz="2000" b="1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/>
              <a:t>Same operation four times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/>
              <a:t>This results in:</a:t>
            </a:r>
            <a:endParaRPr lang="en-US" sz="2000">
              <a:cs typeface="Arial"/>
            </a:endParaRPr>
          </a:p>
          <a:p>
            <a:r>
              <a:rPr lang="en-US" sz="2000"/>
              <a:t>         Additional execution overhead </a:t>
            </a:r>
            <a:endParaRPr lang="en-US" sz="2000">
              <a:cs typeface="Arial"/>
            </a:endParaRPr>
          </a:p>
          <a:p>
            <a:endParaRPr lang="en-US" sz="2000"/>
          </a:p>
          <a:p>
            <a:r>
              <a:rPr lang="en-US" sz="2000"/>
              <a:t>         Repeated instruction fetch and decode. </a:t>
            </a:r>
            <a:endParaRPr lang="en-US" sz="2000">
              <a:cs typeface="Arial"/>
            </a:endParaRPr>
          </a:p>
          <a:p>
            <a:endParaRPr lang="en-US" sz="2000"/>
          </a:p>
          <a:p>
            <a:r>
              <a:rPr lang="en-US" sz="2000"/>
              <a:t>         Increased instruction count. . 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/>
              <a:t>Independent, highly regular pattern.</a:t>
            </a:r>
            <a:endParaRPr lang="en-US" sz="2000">
              <a:cs typeface="Arial"/>
            </a:endParaRPr>
          </a:p>
          <a:p>
            <a:endParaRPr lang="en-US" sz="16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65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A88EA-42E5-463B-1919-14AC3C15F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1282D-9FA9-E532-AF41-FD95A8E792F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770D03-6922-F2B5-4D61-96AF3FA87C4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BC16B1-C4ED-9E20-C72E-C85C20A6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43750" cy="589222"/>
          </a:xfrm>
        </p:spPr>
        <p:txBody>
          <a:bodyPr/>
          <a:lstStyle/>
          <a:p>
            <a:r>
              <a:rPr lang="en-US">
                <a:cs typeface="Arial"/>
              </a:rPr>
              <a:t>The Super Instruction </a:t>
            </a:r>
            <a:br>
              <a:rPr lang="en-US">
                <a:cs typeface="Arial"/>
              </a:rPr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4A73F-9E5E-754D-264B-B01B7EDAEACE}"/>
              </a:ext>
            </a:extLst>
          </p:cNvPr>
          <p:cNvSpPr txBox="1"/>
          <p:nvPr/>
        </p:nvSpPr>
        <p:spPr>
          <a:xfrm>
            <a:off x="892038" y="1712472"/>
            <a:ext cx="5498806" cy="66787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u="sng">
                <a:cs typeface="Arial"/>
              </a:rPr>
              <a:t>The Idea:</a:t>
            </a:r>
          </a:p>
          <a:p>
            <a:endParaRPr lang="en-US" sz="2000">
              <a:cs typeface="Arial"/>
            </a:endParaRPr>
          </a:p>
          <a:p>
            <a:r>
              <a:rPr lang="en-US" sz="2000" err="1">
                <a:ea typeface="+mn-lt"/>
                <a:cs typeface="+mn-lt"/>
              </a:rPr>
              <a:t>i</a:t>
            </a:r>
            <a:r>
              <a:rPr lang="en-US" sz="2000">
                <a:ea typeface="+mn-lt"/>
                <a:cs typeface="+mn-lt"/>
              </a:rPr>
              <a:t>) Introduce a super instruction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ii) Replicate AES32/</a:t>
            </a:r>
            <a:r>
              <a:rPr lang="en-US" sz="2000" err="1">
                <a:ea typeface="+mn-lt"/>
                <a:cs typeface="+mn-lt"/>
              </a:rPr>
              <a:t>Zkne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datapath</a:t>
            </a:r>
            <a:r>
              <a:rPr lang="en-US" sz="2000">
                <a:ea typeface="+mn-lt"/>
                <a:cs typeface="+mn-lt"/>
              </a:rPr>
              <a:t> four times</a:t>
            </a:r>
            <a:endParaRPr lang="en-US" sz="2000">
              <a:cs typeface="Arial"/>
            </a:endParaRPr>
          </a:p>
          <a:p>
            <a:endParaRPr lang="en-US" sz="2000" b="1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iii) Execute in parallel within a single instruction.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iv) Combine the results internally </a:t>
            </a:r>
          </a:p>
          <a:p>
            <a:r>
              <a:rPr lang="en-US" sz="2000">
                <a:ea typeface="+mn-lt"/>
                <a:cs typeface="+mn-lt"/>
              </a:rPr>
              <a:t>and write back the final 32-bit result.</a:t>
            </a:r>
            <a:endParaRPr lang="en-US" sz="2000">
              <a:cs typeface="Arial"/>
            </a:endParaRPr>
          </a:p>
          <a:p>
            <a:endParaRPr lang="en-US" sz="2000">
              <a:cs typeface="Arial"/>
            </a:endParaRPr>
          </a:p>
          <a:p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b="1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b="1" u="sng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b="1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44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F7634-B793-84AA-4301-3A61DCCA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2AA190-412E-63CF-AC79-1285F3D62DA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FF4782-1109-B9D2-F3DE-B03ACC5B009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337BF1-8A2A-EB98-513F-A6D6ECCF2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43750" cy="589222"/>
          </a:xfrm>
        </p:spPr>
        <p:txBody>
          <a:bodyPr/>
          <a:lstStyle/>
          <a:p>
            <a:r>
              <a:rPr lang="en-US">
                <a:cs typeface="Arial"/>
              </a:rPr>
              <a:t>The Super Instruction </a:t>
            </a:r>
            <a:br>
              <a:rPr lang="en-US">
                <a:cs typeface="Arial"/>
              </a:rPr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5A4BF-C0F4-6B48-CEAC-170D130BDB6F}"/>
              </a:ext>
            </a:extLst>
          </p:cNvPr>
          <p:cNvSpPr txBox="1"/>
          <p:nvPr/>
        </p:nvSpPr>
        <p:spPr>
          <a:xfrm>
            <a:off x="918619" y="1473239"/>
            <a:ext cx="7598735" cy="73158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/>
              <a:t>Architectural Changes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err="1">
                <a:ea typeface="+mn-lt"/>
                <a:cs typeface="+mn-lt"/>
              </a:rPr>
              <a:t>i</a:t>
            </a:r>
            <a:r>
              <a:rPr lang="en-US" sz="2000">
                <a:ea typeface="+mn-lt"/>
                <a:cs typeface="+mn-lt"/>
              </a:rPr>
              <a:t>) </a:t>
            </a:r>
            <a:r>
              <a:rPr lang="en-US" sz="2000" b="1">
                <a:ea typeface="+mn-lt"/>
                <a:cs typeface="+mn-lt"/>
              </a:rPr>
              <a:t>Introduced new opcodes and instruction formats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New instruction encoding includes four source registers:</a:t>
            </a:r>
            <a:endParaRPr lang="en-US" sz="2000">
              <a:cs typeface="Arial"/>
            </a:endParaRPr>
          </a:p>
          <a:p>
            <a:r>
              <a:rPr lang="en-US" sz="2000">
                <a:latin typeface="Arial"/>
                <a:cs typeface="Arial"/>
              </a:rPr>
              <a:t>rs4 | rs3 | rs2 | rs1 | </a:t>
            </a:r>
            <a:r>
              <a:rPr lang="en-US" sz="2000" err="1">
                <a:latin typeface="Arial"/>
                <a:cs typeface="Arial"/>
              </a:rPr>
              <a:t>rd</a:t>
            </a:r>
            <a:r>
              <a:rPr lang="en-US" sz="2000">
                <a:latin typeface="Arial"/>
                <a:cs typeface="Arial"/>
              </a:rPr>
              <a:t> | opcode</a:t>
            </a:r>
          </a:p>
          <a:p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Single instruction to specify all operands</a:t>
            </a:r>
            <a:br>
              <a:rPr lang="en-US"/>
            </a:br>
            <a:endParaRPr lang="en-US" sz="2000">
              <a:cs typeface="Arial"/>
            </a:endParaRPr>
          </a:p>
          <a:p>
            <a:r>
              <a:rPr lang="en-US" sz="2000">
                <a:ea typeface="+mn-lt"/>
                <a:cs typeface="+mn-lt"/>
              </a:rPr>
              <a:t>ii) </a:t>
            </a:r>
            <a:r>
              <a:rPr lang="en-US" sz="2000" b="1">
                <a:ea typeface="+mn-lt"/>
                <a:cs typeface="+mn-lt"/>
              </a:rPr>
              <a:t>Modified the register file</a:t>
            </a:r>
            <a:endParaRPr lang="en-US" sz="2000">
              <a:cs typeface="Arial"/>
            </a:endParaRPr>
          </a:p>
          <a:p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Added an additional read port. </a:t>
            </a: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Allows all operands to be fetched within a single instruction cycle.</a:t>
            </a:r>
            <a:r>
              <a:rPr lang="en-US" sz="1600">
                <a:ea typeface="+mn-lt"/>
                <a:cs typeface="+mn-lt"/>
              </a:rPr>
              <a:t> </a:t>
            </a:r>
            <a:endParaRPr lang="en-US">
              <a:cs typeface="Arial"/>
            </a:endParaRPr>
          </a:p>
          <a:p>
            <a:br>
              <a:rPr lang="en-US"/>
            </a:br>
            <a:endParaRPr lang="en-US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763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DB8EB-2693-FA83-2A19-68528D6A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88E32-08BC-41AF-7B9C-36EFB4D6A22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099A81-0B3E-0594-6371-6D5FBC2CC2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CDA14B-9E8D-E38B-E396-33901AE7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43750" cy="589222"/>
          </a:xfrm>
        </p:spPr>
        <p:txBody>
          <a:bodyPr/>
          <a:lstStyle/>
          <a:p>
            <a:r>
              <a:rPr lang="en-US">
                <a:cs typeface="Arial"/>
              </a:rPr>
              <a:t>The Super Instruction </a:t>
            </a:r>
            <a:br>
              <a:rPr lang="en-US">
                <a:cs typeface="Arial"/>
              </a:rPr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7D6FC-20DE-9B43-47F1-8862EE3BA05E}"/>
              </a:ext>
            </a:extLst>
          </p:cNvPr>
          <p:cNvSpPr txBox="1"/>
          <p:nvPr/>
        </p:nvSpPr>
        <p:spPr>
          <a:xfrm>
            <a:off x="892038" y="1721332"/>
            <a:ext cx="10841665" cy="52014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>
                <a:cs typeface="Arial"/>
              </a:rPr>
              <a:t>iii) </a:t>
            </a:r>
            <a:r>
              <a:rPr lang="en-US" sz="2000" b="1">
                <a:cs typeface="Arial"/>
              </a:rPr>
              <a:t>Replicated the </a:t>
            </a:r>
            <a:r>
              <a:rPr lang="en-US" sz="2000" b="1" err="1">
                <a:cs typeface="Arial"/>
              </a:rPr>
              <a:t>Zkne</a:t>
            </a:r>
            <a:r>
              <a:rPr lang="en-US" sz="2000" b="1">
                <a:cs typeface="Arial"/>
              </a:rPr>
              <a:t> hardware four times</a:t>
            </a:r>
            <a:endParaRPr lang="en-US" sz="200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Arial"/>
              </a:rPr>
              <a:t>Instantiated four AES32/</a:t>
            </a:r>
            <a:r>
              <a:rPr lang="en-US" sz="2000" err="1">
                <a:cs typeface="Arial"/>
              </a:rPr>
              <a:t>Zkne</a:t>
            </a:r>
            <a:r>
              <a:rPr lang="en-US" sz="2000">
                <a:cs typeface="Arial"/>
              </a:rPr>
              <a:t> </a:t>
            </a:r>
            <a:r>
              <a:rPr lang="en-US" sz="2000" err="1">
                <a:cs typeface="Arial"/>
              </a:rPr>
              <a:t>datapaths</a:t>
            </a:r>
            <a:r>
              <a:rPr lang="en-US" sz="2000">
                <a:cs typeface="Arial"/>
              </a:rPr>
              <a:t>. </a:t>
            </a:r>
          </a:p>
          <a:p>
            <a:endParaRPr lang="en-US" sz="200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sz="2000">
              <a:cs typeface="Arial"/>
            </a:endParaRPr>
          </a:p>
          <a:p>
            <a:endParaRPr lang="en-US" sz="200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sz="2000">
              <a:cs typeface="Arial"/>
            </a:endParaRPr>
          </a:p>
          <a:p>
            <a:endParaRPr lang="en-US" sz="2000">
              <a:cs typeface="Arial"/>
            </a:endParaRPr>
          </a:p>
          <a:p>
            <a:r>
              <a:rPr lang="en-US" sz="2000">
                <a:cs typeface="Arial"/>
              </a:rPr>
              <a:t>iv) Added Software support for these super instructions:</a:t>
            </a:r>
          </a:p>
          <a:p>
            <a:endParaRPr lang="en-US" sz="2000">
              <a:cs typeface="Arial"/>
            </a:endParaRPr>
          </a:p>
          <a:p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807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40A66-A8EE-65DD-D13B-DD6E4741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A1F416-7BDA-8D7D-D255-E2B5E96CCE6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12-6-2026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EE797F-57D2-27C9-C413-5598BBFF26D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980BA1-450E-FD2B-A225-1B722E7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43750" cy="589222"/>
          </a:xfrm>
        </p:spPr>
        <p:txBody>
          <a:bodyPr/>
          <a:lstStyle/>
          <a:p>
            <a:r>
              <a:rPr lang="en-US">
                <a:cs typeface="Arial"/>
              </a:rPr>
              <a:t>The Super Instruction </a:t>
            </a:r>
            <a:br>
              <a:rPr lang="en-US">
                <a:cs typeface="Arial"/>
              </a:rPr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135B5-19D1-AA50-636A-4AE20DAA6B67}"/>
              </a:ext>
            </a:extLst>
          </p:cNvPr>
          <p:cNvSpPr txBox="1"/>
          <p:nvPr/>
        </p:nvSpPr>
        <p:spPr>
          <a:xfrm>
            <a:off x="892038" y="1721332"/>
            <a:ext cx="10097386" cy="29592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u="sng">
                <a:cs typeface="Arial"/>
              </a:rPr>
              <a:t>Limitations: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7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err="1">
                <a:cs typeface="Arial"/>
              </a:rPr>
              <a:t>i</a:t>
            </a:r>
            <a:r>
              <a:rPr lang="en-US" sz="2000">
                <a:cs typeface="Arial"/>
              </a:rPr>
              <a:t>)Haphazard allocation of new opcodes. Might mess with the RISCV convention in the long run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>
                <a:cs typeface="Arial"/>
              </a:rPr>
              <a:t>ii) Did not want to modify the register file architecture for just 2 instructions.</a:t>
            </a:r>
            <a:endParaRPr lang="en-US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>
              <a:cs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>
                <a:cs typeface="Arial"/>
              </a:rPr>
              <a:t>iii) Modest benefit, but high overhead (in terms of utilisation).</a:t>
            </a:r>
          </a:p>
        </p:txBody>
      </p:sp>
    </p:spTree>
    <p:extLst>
      <p:ext uri="{BB962C8B-B14F-4D97-AF65-F5344CB8AC3E}">
        <p14:creationId xmlns:p14="http://schemas.microsoft.com/office/powerpoint/2010/main" val="196446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F0AD81DD-0B80-233C-DBAF-E913CE0B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Quote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EAA3271-F85E-FF5B-FC10-8C62C9ABC4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8" y="719138"/>
            <a:ext cx="10752137" cy="5281612"/>
          </a:xfrm>
        </p:spPr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 </a:t>
            </a:r>
            <a:r>
              <a:rPr lang="en-US">
                <a:solidFill>
                  <a:srgbClr val="FFFFFF"/>
                </a:solidFill>
              </a:rPr>
              <a:t>THANK YOU !! </a:t>
            </a: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AC07C59-B968-4849-218B-5A356C2AB98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E839E319-1BF3-4271-A25C-38DAF2180812}" type="datetime1">
              <a:rPr lang="nl-NL" smtClean="0"/>
              <a:t>12-6-2026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D399DFC-B3BC-0F05-71CA-09FAF512A9A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22</a:t>
            </a:fld>
            <a:endParaRPr lang="en-GB"/>
          </a:p>
        </p:txBody>
      </p:sp>
      <p:pic>
        <p:nvPicPr>
          <p:cNvPr id="7" name="Picture 6" descr="Aesthetic Happy Face Transparent PNG - 600x600 - Free Download on NicePNG">
            <a:extLst>
              <a:ext uri="{FF2B5EF4-FFF2-40B4-BE49-F238E27FC236}">
                <a16:creationId xmlns:a16="http://schemas.microsoft.com/office/drawing/2014/main" id="{FCE03D19-0D8F-5ADE-322B-13B86673F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3150032"/>
            <a:ext cx="2743199" cy="227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4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U DELFT | TEMPLATE (SLIDEBUILDER)">
  <a:themeElements>
    <a:clrScheme name="Aangepast 4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4F8AECC6-D329-4AE3-BCDB-373F234A7437}" vid="{B81EAC2A-555D-4936-8BF3-0B3B9DD84B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625af3c4-51f1-4017-80ca-c537fc85ab22">KTYWQER7VAYA-428015617-38</_dlc_DocId>
    <_dlc_DocIdUrl xmlns="625af3c4-51f1-4017-80ca-c537fc85ab22">
      <Url>https://tud365.sharepoint.com/sites/Assets/_layouts/15/DocIdRedir.aspx?ID=KTYWQER7VAYA-428015617-38</Url>
      <Description>KTYWQER7VAYA-428015617-38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8CCD81E9B8EC4AA9F37098270FA7B2" ma:contentTypeVersion="4" ma:contentTypeDescription="Create a new document." ma:contentTypeScope="" ma:versionID="6bbf2edf66af0f3f03e807519ceb9393">
  <xsd:schema xmlns:xsd="http://www.w3.org/2001/XMLSchema" xmlns:xs="http://www.w3.org/2001/XMLSchema" xmlns:p="http://schemas.microsoft.com/office/2006/metadata/properties" xmlns:ns2="5495e808-e183-4a7a-9118-4955941b014f" xmlns:ns3="625af3c4-51f1-4017-80ca-c537fc85ab22" targetNamespace="http://schemas.microsoft.com/office/2006/metadata/properties" ma:root="true" ma:fieldsID="4c9c9b65373b7a7f52a6bb5343aaef4e" ns2:_="" ns3:_="">
    <xsd:import namespace="5495e808-e183-4a7a-9118-4955941b014f"/>
    <xsd:import namespace="625af3c4-51f1-4017-80ca-c537fc85ab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95e808-e183-4a7a-9118-4955941b01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af3c4-51f1-4017-80ca-c537fc85ab22" elementFormDefault="qualified">
    <xsd:import namespace="http://schemas.microsoft.com/office/2006/documentManagement/types"/>
    <xsd:import namespace="http://schemas.microsoft.com/office/infopath/2007/PartnerControls"/>
    <xsd:element name="_dlc_DocId" ma:index="12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1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4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874D38-23B4-427A-9E54-F41D61416655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6C60251D-6FF0-4793-A20E-73F86C34C07D}">
  <ds:schemaRefs>
    <ds:schemaRef ds:uri="625af3c4-51f1-4017-80ca-c537fc85ab22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7E11486-FE4C-4313-9044-8BC6DF9B2B6F}">
  <ds:schemaRefs>
    <ds:schemaRef ds:uri="5495e808-e183-4a7a-9118-4955941b014f"/>
    <ds:schemaRef ds:uri="625af3c4-51f1-4017-80ca-c537fc85ab2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FB1BE96A-004D-462B-9683-1ED8D109FF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TU DELFT | TEMPLATE (SLIDEBUILDER)</vt:lpstr>
      <vt:lpstr>Title slide + image</vt:lpstr>
      <vt:lpstr>Context: Why AES is needed?</vt:lpstr>
      <vt:lpstr>Advanced Encryption Standard (AES)</vt:lpstr>
      <vt:lpstr>Advanced Encryption Standard (AES)</vt:lpstr>
      <vt:lpstr>Advanced Encryption Standard (AES)</vt:lpstr>
      <vt:lpstr>Baseline software implementation</vt:lpstr>
      <vt:lpstr>Baseline Bottlenecks </vt:lpstr>
      <vt:lpstr>How does hardware help?</vt:lpstr>
      <vt:lpstr>Performance after implementation of AES hardware support</vt:lpstr>
      <vt:lpstr>Vulnerabilities to side channel attacks</vt:lpstr>
      <vt:lpstr>Compiler Optimizations: Custom LoopUnroll Pass</vt:lpstr>
      <vt:lpstr>Compiler Optimizations: Custom LoopUnroll Pass </vt:lpstr>
      <vt:lpstr>Compiler Optimizations: Custom LoopUnroll Pass </vt:lpstr>
      <vt:lpstr>RTL Optimization: Parallel DOM S-box</vt:lpstr>
      <vt:lpstr>RTL Optimization: Parallel DOM S-box</vt:lpstr>
      <vt:lpstr>RTL Optimization: Parallel DOM S-box</vt:lpstr>
      <vt:lpstr>Future Work: The Super Instruction  </vt:lpstr>
      <vt:lpstr>The Super Instruction  </vt:lpstr>
      <vt:lpstr>The Super Instruction  </vt:lpstr>
      <vt:lpstr>The Super Instruction  </vt:lpstr>
      <vt:lpstr>The Super Instruction  </vt:lpstr>
      <vt:lpstr>Quote</vt:lpstr>
    </vt:vector>
  </TitlesOfParts>
  <Company>TU Delft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2026-06-10T12:30:33Z</dcterms:created>
  <dcterms:modified xsi:type="dcterms:W3CDTF">2026-06-12T15:29:37Z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0x0101006F8CCD81E9B8EC4AA9F37098270FA7B2</vt:lpwstr>
  </property>
  <property fmtid="{D5CDD505-2E9C-101B-9397-08002B2CF9AE}" pid="3" name="_dlc_DocIdItemGuid">
    <vt:lpwstr>30cf2a91-9b42-4936-8f52-db3fc703465a</vt:lpwstr>
  </property>
</Properties>
</file>